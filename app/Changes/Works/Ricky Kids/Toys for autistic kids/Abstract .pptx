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12192000"/>
  <p:notesSz cx="6858000" cy="9144000"/>
  <p:embeddedFontLst>
    <p:embeddedFont>
      <p:font typeface="Century Gothic"/>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iqo8c/utnyTmwpvnrxOhwfNE0f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A3DC22-DDAF-487E-A417-289DBB299477}">
  <a:tblStyle styleId="{A7A3DC22-DDAF-487E-A417-289DBB299477}"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2E7E6"/>
          </a:solidFill>
        </a:fill>
      </a:tcStyle>
    </a:wholeTbl>
    <a:band1H>
      <a:tcTxStyle/>
      <a:tcStyle>
        <a:fill>
          <a:solidFill>
            <a:srgbClr val="E3CACA"/>
          </a:solidFill>
        </a:fill>
      </a:tcStyle>
    </a:band1H>
    <a:band2H>
      <a:tcTxStyle/>
    </a:band2H>
    <a:band1V>
      <a:tcTxStyle/>
      <a:tcStyle>
        <a:fill>
          <a:solidFill>
            <a:srgbClr val="E3CACA"/>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enturyGothic-bold.fntdata"/><Relationship Id="rId12" Type="http://schemas.openxmlformats.org/officeDocument/2006/relationships/slide" Target="slides/slide7.xml"/><Relationship Id="rId34" Type="http://schemas.openxmlformats.org/officeDocument/2006/relationships/font" Target="fonts/CenturyGothic-regular.fntdata"/><Relationship Id="rId15" Type="http://schemas.openxmlformats.org/officeDocument/2006/relationships/slide" Target="slides/slide10.xml"/><Relationship Id="rId37" Type="http://schemas.openxmlformats.org/officeDocument/2006/relationships/font" Target="fonts/CenturyGothic-boldItalic.fntdata"/><Relationship Id="rId14" Type="http://schemas.openxmlformats.org/officeDocument/2006/relationships/slide" Target="slides/slide9.xml"/><Relationship Id="rId36" Type="http://schemas.openxmlformats.org/officeDocument/2006/relationships/font" Target="fonts/CenturyGothic-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0"/>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0"/>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0" name="Google Shape;20;p3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6" name="Google Shape;26;p3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32"/>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2"/>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32" name="Google Shape;32;p3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3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3"/>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8" name="Google Shape;38;p33"/>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9" name="Google Shape;39;p3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3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4"/>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5" name="Google Shape;45;p34"/>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6" name="Google Shape;46;p34"/>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7" name="Google Shape;47;p34"/>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8" name="Google Shape;48;p3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3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3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37"/>
          <p:cNvSpPr txBox="1"/>
          <p:nvPr>
            <p:ph type="title"/>
          </p:nvPr>
        </p:nvSpPr>
        <p:spPr>
          <a:xfrm>
            <a:off x="1154953" y="1447800"/>
            <a:ext cx="3401064"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7"/>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63" name="Google Shape;63;p37"/>
          <p:cNvSpPr txBox="1"/>
          <p:nvPr>
            <p:ph idx="2" type="body"/>
          </p:nvPr>
        </p:nvSpPr>
        <p:spPr>
          <a:xfrm>
            <a:off x="1154953"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4" name="Google Shape;64;p3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38"/>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8"/>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0" name="Google Shape;70;p38"/>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1" name="Google Shape;71;p3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4" name="Shape 74"/>
        <p:cNvGrpSpPr/>
        <p:nvPr/>
      </p:nvGrpSpPr>
      <p:grpSpPr>
        <a:xfrm>
          <a:off x="0" y="0"/>
          <a:ext cx="0" cy="0"/>
          <a:chOff x="0" y="0"/>
          <a:chExt cx="0" cy="0"/>
        </a:xfrm>
      </p:grpSpPr>
      <p:sp>
        <p:nvSpPr>
          <p:cNvPr id="75" name="Google Shape;75;p39"/>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9"/>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77" name="Google Shape;77;p39"/>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8" name="Google Shape;78;p3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1" name="Shape 81"/>
        <p:cNvGrpSpPr/>
        <p:nvPr/>
      </p:nvGrpSpPr>
      <p:grpSpPr>
        <a:xfrm>
          <a:off x="0" y="0"/>
          <a:ext cx="0" cy="0"/>
          <a:chOff x="0" y="0"/>
          <a:chExt cx="0" cy="0"/>
        </a:xfrm>
      </p:grpSpPr>
      <p:sp>
        <p:nvSpPr>
          <p:cNvPr id="82" name="Google Shape;82;p40"/>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0"/>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4" name="Google Shape;84;p4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7" name="Shape 87"/>
        <p:cNvGrpSpPr/>
        <p:nvPr/>
      </p:nvGrpSpPr>
      <p:grpSpPr>
        <a:xfrm>
          <a:off x="0" y="0"/>
          <a:ext cx="0" cy="0"/>
          <a:chOff x="0" y="0"/>
          <a:chExt cx="0" cy="0"/>
        </a:xfrm>
      </p:grpSpPr>
      <p:sp>
        <p:nvSpPr>
          <p:cNvPr id="88" name="Google Shape;88;p41"/>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1"/>
          <p:cNvSpPr txBox="1"/>
          <p:nvPr>
            <p:ph idx="1" type="body"/>
          </p:nvPr>
        </p:nvSpPr>
        <p:spPr>
          <a:xfrm>
            <a:off x="1930400" y="3771174"/>
            <a:ext cx="727964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0" name="Google Shape;90;p41"/>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4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4" name="Google Shape;94;p41"/>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6D1D8"/>
                </a:solidFill>
                <a:latin typeface="Arial"/>
                <a:ea typeface="Arial"/>
                <a:cs typeface="Arial"/>
                <a:sym typeface="Arial"/>
              </a:rPr>
              <a:t>“</a:t>
            </a:r>
            <a:endParaRPr/>
          </a:p>
        </p:txBody>
      </p:sp>
      <p:sp>
        <p:nvSpPr>
          <p:cNvPr id="95" name="Google Shape;95;p41"/>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6D1D8"/>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6" name="Shape 96"/>
        <p:cNvGrpSpPr/>
        <p:nvPr/>
      </p:nvGrpSpPr>
      <p:grpSpPr>
        <a:xfrm>
          <a:off x="0" y="0"/>
          <a:ext cx="0" cy="0"/>
          <a:chOff x="0" y="0"/>
          <a:chExt cx="0" cy="0"/>
        </a:xfrm>
      </p:grpSpPr>
      <p:sp>
        <p:nvSpPr>
          <p:cNvPr id="97" name="Google Shape;97;p42"/>
          <p:cNvSpPr txBox="1"/>
          <p:nvPr>
            <p:ph type="title"/>
          </p:nvPr>
        </p:nvSpPr>
        <p:spPr>
          <a:xfrm>
            <a:off x="1154954" y="3124201"/>
            <a:ext cx="8825660"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2"/>
          <p:cNvSpPr txBox="1"/>
          <p:nvPr>
            <p:ph idx="1" type="body"/>
          </p:nvPr>
        </p:nvSpPr>
        <p:spPr>
          <a:xfrm>
            <a:off x="1154954" y="4777381"/>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99" name="Google Shape;99;p4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4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4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43"/>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5" name="Google Shape;105;p43"/>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6" name="Google Shape;106;p43"/>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7" name="Google Shape;107;p43"/>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8" name="Google Shape;108;p43"/>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43"/>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0" name="Google Shape;110;p43"/>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1" name="Google Shape;111;p43"/>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2" name="Google Shape;112;p4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4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4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5" name="Shape 115"/>
        <p:cNvGrpSpPr/>
        <p:nvPr/>
      </p:nvGrpSpPr>
      <p:grpSpPr>
        <a:xfrm>
          <a:off x="0" y="0"/>
          <a:ext cx="0" cy="0"/>
          <a:chOff x="0" y="0"/>
          <a:chExt cx="0" cy="0"/>
        </a:xfrm>
      </p:grpSpPr>
      <p:sp>
        <p:nvSpPr>
          <p:cNvPr id="116" name="Google Shape;116;p4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4"/>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8" name="Google Shape;118;p44"/>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9" name="Google Shape;119;p44"/>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0" name="Google Shape;120;p44"/>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1" name="Google Shape;121;p44"/>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2" name="Google Shape;122;p44"/>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3" name="Google Shape;123;p44"/>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4" name="Google Shape;124;p44"/>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5" name="Google Shape;125;p44"/>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26" name="Google Shape;126;p44"/>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27" name="Google Shape;127;p44"/>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28" name="Google Shape;128;p4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4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4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4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45"/>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4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4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4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46"/>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46"/>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4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4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4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5.xml"/><Relationship Id="rId11" Type="http://schemas.openxmlformats.org/officeDocument/2006/relationships/slideLayout" Target="../slideLayouts/slideLayout6.xml"/><Relationship Id="rId22" Type="http://schemas.openxmlformats.org/officeDocument/2006/relationships/slideLayout" Target="../slideLayouts/slideLayout17.xml"/><Relationship Id="rId10" Type="http://schemas.openxmlformats.org/officeDocument/2006/relationships/slideLayout" Target="../slideLayouts/slideLayout5.xml"/><Relationship Id="rId21" Type="http://schemas.openxmlformats.org/officeDocument/2006/relationships/slideLayout" Target="../slideLayouts/slideLayout16.xml"/><Relationship Id="rId13" Type="http://schemas.openxmlformats.org/officeDocument/2006/relationships/slideLayout" Target="../slideLayouts/slideLayout8.xml"/><Relationship Id="rId12" Type="http://schemas.openxmlformats.org/officeDocument/2006/relationships/slideLayout" Target="../slideLayouts/slideLayout7.xml"/><Relationship Id="rId23" Type="http://schemas.openxmlformats.org/officeDocument/2006/relationships/theme" Target="../theme/theme1.xml"/><Relationship Id="rId1" Type="http://schemas.openxmlformats.org/officeDocument/2006/relationships/image" Target="../media/image5.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slideLayout" Target="../slideLayouts/slideLayout12.xml"/><Relationship Id="rId16" Type="http://schemas.openxmlformats.org/officeDocument/2006/relationships/slideLayout" Target="../slideLayouts/slideLayout11.xml"/><Relationship Id="rId5" Type="http://schemas.openxmlformats.org/officeDocument/2006/relationships/image" Target="../media/image2.png"/><Relationship Id="rId19" Type="http://schemas.openxmlformats.org/officeDocument/2006/relationships/slideLayout" Target="../slideLayouts/slideLayout14.xml"/><Relationship Id="rId6" Type="http://schemas.openxmlformats.org/officeDocument/2006/relationships/slideLayout" Target="../slideLayouts/slideLayout1.xml"/><Relationship Id="rId18" Type="http://schemas.openxmlformats.org/officeDocument/2006/relationships/slideLayout" Target="../slideLayouts/slideLayout13.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7" name="Google Shape;7;p29"/>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8" name="Google Shape;8;p29"/>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 name="Google Shape;9;p29"/>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0" name="Google Shape;10;p29"/>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1" name="Google Shape;11;p2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3" name="Google Shape;13;p29"/>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4" name="Google Shape;14;p2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p2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6" name="Google Shape;16;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mailto:vijayare@srmist.edu.i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mailto:pushpaldas2001@gmail.com" TargetMode="External"/><Relationship Id="rId6" Type="http://schemas.openxmlformats.org/officeDocument/2006/relationships/image" Target="../media/image6.png"/><Relationship Id="rId7" Type="http://schemas.openxmlformats.org/officeDocument/2006/relationships/image" Target="../media/image8.png"/><Relationship Id="rId8"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mailto:abhisrkr007@gmail.com" TargetMode="External"/><Relationship Id="rId6" Type="http://schemas.openxmlformats.org/officeDocument/2006/relationships/image" Target="../media/image6.png"/><Relationship Id="rId7" Type="http://schemas.openxmlformats.org/officeDocument/2006/relationships/image" Target="../media/image8.png"/><Relationship Id="rId8"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mailto:klt.santhosh2002@gmail.com" TargetMode="External"/><Relationship Id="rId6" Type="http://schemas.openxmlformats.org/officeDocument/2006/relationships/image" Target="../media/image6.png"/><Relationship Id="rId7" Type="http://schemas.openxmlformats.org/officeDocument/2006/relationships/image" Target="../media/image8.png"/><Relationship Id="rId8"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18.png"/><Relationship Id="rId5" Type="http://schemas.openxmlformats.org/officeDocument/2006/relationships/hyperlink" Target="mailto:as5539@srmist.edu.in" TargetMode="External"/><Relationship Id="rId6" Type="http://schemas.openxmlformats.org/officeDocument/2006/relationships/image" Target="../media/image6.png"/><Relationship Id="rId7" Type="http://schemas.openxmlformats.org/officeDocument/2006/relationships/image" Target="../media/image8.png"/><Relationship Id="rId8"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46" name="Shape 146"/>
        <p:cNvGrpSpPr/>
        <p:nvPr/>
      </p:nvGrpSpPr>
      <p:grpSpPr>
        <a:xfrm>
          <a:off x="0" y="0"/>
          <a:ext cx="0" cy="0"/>
          <a:chOff x="0" y="0"/>
          <a:chExt cx="0" cy="0"/>
        </a:xfrm>
      </p:grpSpPr>
      <p:pic>
        <p:nvPicPr>
          <p:cNvPr id="147" name="Google Shape;147;p1"/>
          <p:cNvPicPr preferRelativeResize="0"/>
          <p:nvPr/>
        </p:nvPicPr>
        <p:blipFill rotWithShape="1">
          <a:blip r:embed="rId3">
            <a:alphaModFix/>
          </a:blip>
          <a:srcRect b="0" l="0" r="0" t="19643"/>
          <a:stretch/>
        </p:blipFill>
        <p:spPr>
          <a:xfrm>
            <a:off x="20" y="1"/>
            <a:ext cx="12191980" cy="6857999"/>
          </a:xfrm>
          <a:prstGeom prst="rect">
            <a:avLst/>
          </a:prstGeom>
          <a:noFill/>
          <a:ln>
            <a:noFill/>
          </a:ln>
        </p:spPr>
      </p:pic>
      <p:sp>
        <p:nvSpPr>
          <p:cNvPr id="148" name="Google Shape;148;p1"/>
          <p:cNvSpPr txBox="1"/>
          <p:nvPr>
            <p:ph type="ctrTitle"/>
          </p:nvPr>
        </p:nvSpPr>
        <p:spPr>
          <a:xfrm>
            <a:off x="565150" y="1302512"/>
            <a:ext cx="4209293" cy="282642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2"/>
              </a:buClr>
              <a:buSzPts val="5400"/>
              <a:buFont typeface="Century Gothic"/>
              <a:buNone/>
            </a:pPr>
            <a:r>
              <a:rPr lang="en-US" sz="5400"/>
              <a:t>TOYS FOR AUTISTIC KIDS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2" name="Shape 152"/>
        <p:cNvGrpSpPr/>
        <p:nvPr/>
      </p:nvGrpSpPr>
      <p:grpSpPr>
        <a:xfrm>
          <a:off x="0" y="0"/>
          <a:ext cx="0" cy="0"/>
          <a:chOff x="0" y="0"/>
          <a:chExt cx="0" cy="0"/>
        </a:xfrm>
      </p:grpSpPr>
      <p:sp>
        <p:nvSpPr>
          <p:cNvPr id="153" name="Google Shape;153;p2"/>
          <p:cNvSpPr txBox="1"/>
          <p:nvPr>
            <p:ph type="title"/>
          </p:nvPr>
        </p:nvSpPr>
        <p:spPr>
          <a:xfrm>
            <a:off x="565151" y="770889"/>
            <a:ext cx="4133560"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College Name</a:t>
            </a:r>
            <a:endParaRPr/>
          </a:p>
        </p:txBody>
      </p:sp>
      <p:sp>
        <p:nvSpPr>
          <p:cNvPr id="154" name="Google Shape;154;p2"/>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241300" lvl="0" marL="342900" rtl="0" algn="l">
              <a:spcBef>
                <a:spcPts val="0"/>
              </a:spcBef>
              <a:spcAft>
                <a:spcPts val="0"/>
              </a:spcAft>
              <a:buSzPts val="1600"/>
              <a:buNone/>
            </a:pPr>
            <a:r>
              <a:t/>
            </a:r>
            <a:endParaRPr/>
          </a:p>
        </p:txBody>
      </p:sp>
      <p:grpSp>
        <p:nvGrpSpPr>
          <p:cNvPr id="155" name="Google Shape;155;p2"/>
          <p:cNvGrpSpPr/>
          <p:nvPr/>
        </p:nvGrpSpPr>
        <p:grpSpPr>
          <a:xfrm>
            <a:off x="6394729" y="1572710"/>
            <a:ext cx="3138233" cy="4079702"/>
            <a:chOff x="602201" y="1671"/>
            <a:chExt cx="3138233" cy="4079702"/>
          </a:xfrm>
        </p:grpSpPr>
        <p:sp>
          <p:nvSpPr>
            <p:cNvPr id="156" name="Google Shape;156;p2"/>
            <p:cNvSpPr/>
            <p:nvPr/>
          </p:nvSpPr>
          <p:spPr>
            <a:xfrm>
              <a:off x="602201" y="1671"/>
              <a:ext cx="3138233" cy="1882939"/>
            </a:xfrm>
            <a:prstGeom prst="rect">
              <a:avLst/>
            </a:prstGeom>
            <a:solidFill>
              <a:srgbClr val="E96210"/>
            </a:solidFill>
            <a:ln cap="rnd" cmpd="sng" w="19050">
              <a:solidFill>
                <a:schemeClr val="lt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
            <p:cNvSpPr txBox="1"/>
            <p:nvPr/>
          </p:nvSpPr>
          <p:spPr>
            <a:xfrm>
              <a:off x="602201" y="1671"/>
              <a:ext cx="3138233" cy="1882939"/>
            </a:xfrm>
            <a:prstGeom prst="rect">
              <a:avLst/>
            </a:prstGeom>
            <a:noFill/>
            <a:ln>
              <a:noFill/>
            </a:ln>
          </p:spPr>
          <p:txBody>
            <a:bodyPr anchorCtr="0" anchor="ctr" bIns="118100" lIns="118100" spcFirstLastPara="1" rIns="118100" wrap="square" tIns="118100">
              <a:noAutofit/>
            </a:bodyPr>
            <a:lstStyle/>
            <a:p>
              <a:pPr indent="0" lvl="0" marL="0" marR="0" rtl="0" algn="ctr">
                <a:lnSpc>
                  <a:spcPct val="100000"/>
                </a:lnSpc>
                <a:spcBef>
                  <a:spcPts val="0"/>
                </a:spcBef>
                <a:spcAft>
                  <a:spcPts val="0"/>
                </a:spcAft>
                <a:buClr>
                  <a:schemeClr val="lt1"/>
                </a:buClr>
                <a:buSzPts val="3100"/>
                <a:buFont typeface="Century Gothic"/>
                <a:buNone/>
              </a:pPr>
              <a:r>
                <a:rPr b="0" i="0" lang="en-US" sz="3100" u="none" cap="none" strike="noStrike">
                  <a:solidFill>
                    <a:schemeClr val="lt1"/>
                  </a:solidFill>
                  <a:latin typeface="Century Gothic"/>
                  <a:ea typeface="Century Gothic"/>
                  <a:cs typeface="Century Gothic"/>
                  <a:sym typeface="Century Gothic"/>
                </a:rPr>
                <a:t>SRM Institute of Science and Technology</a:t>
              </a:r>
              <a:endParaRPr b="0" i="0" sz="3100" u="none" cap="none" strike="noStrike">
                <a:solidFill>
                  <a:schemeClr val="lt1"/>
                </a:solidFill>
                <a:latin typeface="Century Gothic"/>
                <a:ea typeface="Century Gothic"/>
                <a:cs typeface="Century Gothic"/>
                <a:sym typeface="Century Gothic"/>
              </a:endParaRPr>
            </a:p>
          </p:txBody>
        </p:sp>
        <p:sp>
          <p:nvSpPr>
            <p:cNvPr id="158" name="Google Shape;158;p2"/>
            <p:cNvSpPr/>
            <p:nvPr/>
          </p:nvSpPr>
          <p:spPr>
            <a:xfrm>
              <a:off x="602201" y="2198434"/>
              <a:ext cx="3138233" cy="1882939"/>
            </a:xfrm>
            <a:prstGeom prst="rect">
              <a:avLst/>
            </a:prstGeom>
            <a:solidFill>
              <a:srgbClr val="E6B726"/>
            </a:solidFill>
            <a:ln cap="rnd" cmpd="sng" w="19050">
              <a:solidFill>
                <a:schemeClr val="lt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
            <p:cNvSpPr txBox="1"/>
            <p:nvPr/>
          </p:nvSpPr>
          <p:spPr>
            <a:xfrm>
              <a:off x="602201" y="2198434"/>
              <a:ext cx="3138233" cy="1882939"/>
            </a:xfrm>
            <a:prstGeom prst="rect">
              <a:avLst/>
            </a:prstGeom>
            <a:noFill/>
            <a:ln>
              <a:noFill/>
            </a:ln>
          </p:spPr>
          <p:txBody>
            <a:bodyPr anchorCtr="0" anchor="ctr" bIns="118100" lIns="118100" spcFirstLastPara="1" rIns="118100" wrap="square" tIns="118100">
              <a:noAutofit/>
            </a:bodyPr>
            <a:lstStyle/>
            <a:p>
              <a:pPr indent="0" lvl="0" marL="0" marR="0" rtl="0" algn="ctr">
                <a:lnSpc>
                  <a:spcPct val="100000"/>
                </a:lnSpc>
                <a:spcBef>
                  <a:spcPts val="0"/>
                </a:spcBef>
                <a:spcAft>
                  <a:spcPts val="0"/>
                </a:spcAft>
                <a:buClr>
                  <a:schemeClr val="lt1"/>
                </a:buClr>
                <a:buSzPts val="3100"/>
                <a:buFont typeface="Century Gothic"/>
                <a:buNone/>
              </a:pPr>
              <a:r>
                <a:rPr b="0" i="0" lang="en-US" sz="3100" u="none" cap="none" strike="noStrike">
                  <a:solidFill>
                    <a:schemeClr val="lt1"/>
                  </a:solidFill>
                  <a:latin typeface="Century Gothic"/>
                  <a:ea typeface="Century Gothic"/>
                  <a:cs typeface="Century Gothic"/>
                  <a:sym typeface="Century Gothic"/>
                </a:rPr>
                <a:t>Jadavpur University</a:t>
              </a:r>
              <a:endParaRPr b="0" i="0" sz="3100" u="none" cap="none" strike="noStrike">
                <a:solidFill>
                  <a:schemeClr val="lt1"/>
                </a:solidFill>
                <a:latin typeface="Century Gothic"/>
                <a:ea typeface="Century Gothic"/>
                <a:cs typeface="Century Gothic"/>
                <a:sym typeface="Century Gothic"/>
              </a:endParaRPr>
            </a:p>
          </p:txBody>
        </p:sp>
      </p:grpSp>
      <p:sp>
        <p:nvSpPr>
          <p:cNvPr id="160" name="Google Shape;160;p2"/>
          <p:cNvSpPr txBox="1"/>
          <p:nvPr/>
        </p:nvSpPr>
        <p:spPr>
          <a:xfrm>
            <a:off x="4724400" y="3200400"/>
            <a:ext cx="27431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4" name="Shape 164"/>
        <p:cNvGrpSpPr/>
        <p:nvPr/>
      </p:nvGrpSpPr>
      <p:grpSpPr>
        <a:xfrm>
          <a:off x="0" y="0"/>
          <a:ext cx="0" cy="0"/>
          <a:chOff x="0" y="0"/>
          <a:chExt cx="0" cy="0"/>
        </a:xfrm>
      </p:grpSpPr>
      <p:sp>
        <p:nvSpPr>
          <p:cNvPr id="165" name="Google Shape;165;p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Faculty guide details</a:t>
            </a:r>
            <a:endParaRPr/>
          </a:p>
        </p:txBody>
      </p:sp>
      <p:grpSp>
        <p:nvGrpSpPr>
          <p:cNvPr id="166" name="Google Shape;166;p3"/>
          <p:cNvGrpSpPr/>
          <p:nvPr/>
        </p:nvGrpSpPr>
        <p:grpSpPr>
          <a:xfrm>
            <a:off x="646111" y="2140085"/>
            <a:ext cx="9404351" cy="4056433"/>
            <a:chOff x="0" y="0"/>
            <a:chExt cx="9404351" cy="4056433"/>
          </a:xfrm>
        </p:grpSpPr>
        <p:sp>
          <p:nvSpPr>
            <p:cNvPr id="167" name="Google Shape;167;p3"/>
            <p:cNvSpPr/>
            <p:nvPr/>
          </p:nvSpPr>
          <p:spPr>
            <a:xfrm>
              <a:off x="0" y="0"/>
              <a:ext cx="7241351" cy="730158"/>
            </a:xfrm>
            <a:prstGeom prst="roundRect">
              <a:avLst>
                <a:gd fmla="val 10000" name="adj"/>
              </a:avLst>
            </a:prstGeom>
            <a:solidFill>
              <a:srgbClr val="E96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txBox="1"/>
            <p:nvPr/>
          </p:nvSpPr>
          <p:spPr>
            <a:xfrm>
              <a:off x="21386" y="21386"/>
              <a:ext cx="6368024" cy="687386"/>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Century Gothic"/>
                <a:buNone/>
              </a:pPr>
              <a:r>
                <a:rPr b="0" i="0" lang="en-US" sz="2500" u="none" cap="none" strike="noStrike">
                  <a:solidFill>
                    <a:schemeClr val="lt1"/>
                  </a:solidFill>
                  <a:latin typeface="Century Gothic"/>
                  <a:ea typeface="Century Gothic"/>
                  <a:cs typeface="Century Gothic"/>
                  <a:sym typeface="Century Gothic"/>
                </a:rPr>
                <a:t>NAME                  Dr E VIJAYARAGAVAN.</a:t>
              </a:r>
              <a:endParaRPr b="0" i="0" sz="2500" u="none" cap="none" strike="noStrike">
                <a:solidFill>
                  <a:schemeClr val="lt1"/>
                </a:solidFill>
                <a:latin typeface="Century Gothic"/>
                <a:ea typeface="Century Gothic"/>
                <a:cs typeface="Century Gothic"/>
                <a:sym typeface="Century Gothic"/>
              </a:endParaRPr>
            </a:p>
          </p:txBody>
        </p:sp>
        <p:sp>
          <p:nvSpPr>
            <p:cNvPr id="169" name="Google Shape;169;p3"/>
            <p:cNvSpPr/>
            <p:nvPr/>
          </p:nvSpPr>
          <p:spPr>
            <a:xfrm>
              <a:off x="540750" y="831568"/>
              <a:ext cx="7241351" cy="730158"/>
            </a:xfrm>
            <a:prstGeom prst="roundRect">
              <a:avLst>
                <a:gd fmla="val 10000" name="adj"/>
              </a:avLst>
            </a:prstGeom>
            <a:solidFill>
              <a:srgbClr val="E6B726"/>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txBox="1"/>
            <p:nvPr/>
          </p:nvSpPr>
          <p:spPr>
            <a:xfrm>
              <a:off x="562136" y="852954"/>
              <a:ext cx="6183226" cy="687386"/>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Century Gothic"/>
                <a:buNone/>
              </a:pPr>
              <a:r>
                <a:rPr b="0" i="0" lang="en-US" sz="2500" u="none" cap="none" strike="noStrike">
                  <a:solidFill>
                    <a:schemeClr val="lt1"/>
                  </a:solidFill>
                  <a:latin typeface="Century Gothic"/>
                  <a:ea typeface="Century Gothic"/>
                  <a:cs typeface="Century Gothic"/>
                  <a:sym typeface="Century Gothic"/>
                </a:rPr>
                <a:t>EMAIL ID          </a:t>
              </a:r>
              <a:r>
                <a:rPr b="0" i="0" lang="en-US" sz="25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vijayare@srmist.edu.in</a:t>
              </a:r>
              <a:r>
                <a:rPr b="0" i="0" lang="en-US" sz="2500" u="none" cap="none" strike="noStrike">
                  <a:solidFill>
                    <a:schemeClr val="lt1"/>
                  </a:solidFill>
                  <a:latin typeface="Century Gothic"/>
                  <a:ea typeface="Century Gothic"/>
                  <a:cs typeface="Century Gothic"/>
                  <a:sym typeface="Century Gothic"/>
                </a:rPr>
                <a:t> .</a:t>
              </a:r>
              <a:endParaRPr b="0" i="0" sz="2500" u="none" cap="none" strike="noStrike">
                <a:solidFill>
                  <a:schemeClr val="lt1"/>
                </a:solidFill>
                <a:latin typeface="Century Gothic"/>
                <a:ea typeface="Century Gothic"/>
                <a:cs typeface="Century Gothic"/>
                <a:sym typeface="Century Gothic"/>
              </a:endParaRPr>
            </a:p>
          </p:txBody>
        </p:sp>
        <p:sp>
          <p:nvSpPr>
            <p:cNvPr id="171" name="Google Shape;171;p3"/>
            <p:cNvSpPr/>
            <p:nvPr/>
          </p:nvSpPr>
          <p:spPr>
            <a:xfrm>
              <a:off x="1081500" y="1663137"/>
              <a:ext cx="7241351" cy="730158"/>
            </a:xfrm>
            <a:prstGeom prst="roundRect">
              <a:avLst>
                <a:gd fmla="val 10000" name="adj"/>
              </a:avLst>
            </a:prstGeom>
            <a:solidFill>
              <a:srgbClr val="6AAA8E"/>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txBox="1"/>
            <p:nvPr/>
          </p:nvSpPr>
          <p:spPr>
            <a:xfrm>
              <a:off x="1102886" y="1684523"/>
              <a:ext cx="6183226" cy="687386"/>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Century Gothic"/>
                <a:buNone/>
              </a:pPr>
              <a:r>
                <a:rPr b="0" i="0" lang="en-US" sz="2500" u="none" cap="none" strike="noStrike">
                  <a:solidFill>
                    <a:schemeClr val="lt1"/>
                  </a:solidFill>
                  <a:latin typeface="Century Gothic"/>
                  <a:ea typeface="Century Gothic"/>
                  <a:cs typeface="Century Gothic"/>
                  <a:sym typeface="Century Gothic"/>
                </a:rPr>
                <a:t>DISCIPLINE      Mechanical Engineering.</a:t>
              </a:r>
              <a:endParaRPr b="0" i="0" sz="2500" u="none" cap="none" strike="noStrike">
                <a:solidFill>
                  <a:schemeClr val="lt1"/>
                </a:solidFill>
                <a:latin typeface="Century Gothic"/>
                <a:ea typeface="Century Gothic"/>
                <a:cs typeface="Century Gothic"/>
                <a:sym typeface="Century Gothic"/>
              </a:endParaRPr>
            </a:p>
          </p:txBody>
        </p:sp>
        <p:sp>
          <p:nvSpPr>
            <p:cNvPr id="173" name="Google Shape;173;p3"/>
            <p:cNvSpPr/>
            <p:nvPr/>
          </p:nvSpPr>
          <p:spPr>
            <a:xfrm>
              <a:off x="1622250" y="2494706"/>
              <a:ext cx="7241351" cy="730158"/>
            </a:xfrm>
            <a:prstGeom prst="roundRect">
              <a:avLst>
                <a:gd fmla="val 10000" name="adj"/>
              </a:avLst>
            </a:prstGeom>
            <a:solidFill>
              <a:srgbClr val="52849A"/>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txBox="1"/>
            <p:nvPr/>
          </p:nvSpPr>
          <p:spPr>
            <a:xfrm>
              <a:off x="1643636" y="2516092"/>
              <a:ext cx="6183226" cy="687386"/>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Century Gothic"/>
                <a:buNone/>
              </a:pPr>
              <a:r>
                <a:rPr b="0" i="0" lang="en-US" sz="2500" u="none" cap="none" strike="noStrike">
                  <a:solidFill>
                    <a:schemeClr val="lt1"/>
                  </a:solidFill>
                  <a:latin typeface="Century Gothic"/>
                  <a:ea typeface="Century Gothic"/>
                  <a:cs typeface="Century Gothic"/>
                  <a:sym typeface="Century Gothic"/>
                </a:rPr>
                <a:t>YEAR                Not applicable.</a:t>
              </a:r>
              <a:endParaRPr b="0" i="0" sz="2500" u="none" cap="none" strike="noStrike">
                <a:solidFill>
                  <a:schemeClr val="lt1"/>
                </a:solidFill>
                <a:latin typeface="Century Gothic"/>
                <a:ea typeface="Century Gothic"/>
                <a:cs typeface="Century Gothic"/>
                <a:sym typeface="Century Gothic"/>
              </a:endParaRPr>
            </a:p>
          </p:txBody>
        </p:sp>
        <p:sp>
          <p:nvSpPr>
            <p:cNvPr id="175" name="Google Shape;175;p3"/>
            <p:cNvSpPr/>
            <p:nvPr/>
          </p:nvSpPr>
          <p:spPr>
            <a:xfrm>
              <a:off x="2163000" y="3326275"/>
              <a:ext cx="7241351" cy="730158"/>
            </a:xfrm>
            <a:prstGeom prst="roundRect">
              <a:avLst>
                <a:gd fmla="val 10000" name="adj"/>
              </a:avLst>
            </a:prstGeom>
            <a:solidFill>
              <a:schemeClr val="accent6"/>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txBox="1"/>
            <p:nvPr/>
          </p:nvSpPr>
          <p:spPr>
            <a:xfrm>
              <a:off x="2184386" y="3347661"/>
              <a:ext cx="6183226" cy="687386"/>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Century Gothic"/>
                <a:buNone/>
              </a:pPr>
              <a:r>
                <a:rPr b="0" i="0" lang="en-US" sz="2500" u="none" cap="none" strike="noStrike">
                  <a:solidFill>
                    <a:schemeClr val="lt1"/>
                  </a:solidFill>
                  <a:latin typeface="Century Gothic"/>
                  <a:ea typeface="Century Gothic"/>
                  <a:cs typeface="Century Gothic"/>
                  <a:sym typeface="Century Gothic"/>
                </a:rPr>
                <a:t>MOBILE            9884214710.</a:t>
              </a:r>
              <a:endParaRPr/>
            </a:p>
          </p:txBody>
        </p:sp>
        <p:sp>
          <p:nvSpPr>
            <p:cNvPr id="177" name="Google Shape;177;p3"/>
            <p:cNvSpPr/>
            <p:nvPr/>
          </p:nvSpPr>
          <p:spPr>
            <a:xfrm>
              <a:off x="6766748" y="533421"/>
              <a:ext cx="474602" cy="474602"/>
            </a:xfrm>
            <a:prstGeom prst="downArrow">
              <a:avLst>
                <a:gd fmla="val 55000" name="adj1"/>
                <a:gd fmla="val 45000" name="adj2"/>
              </a:avLst>
            </a:prstGeom>
            <a:solidFill>
              <a:srgbClr val="F5D1C9">
                <a:alpha val="89803"/>
              </a:srgbClr>
            </a:solidFill>
            <a:ln cap="rnd" cmpd="sng" w="19050">
              <a:solidFill>
                <a:srgbClr val="F5D1C9">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txBox="1"/>
            <p:nvPr/>
          </p:nvSpPr>
          <p:spPr>
            <a:xfrm>
              <a:off x="6873533" y="533421"/>
              <a:ext cx="261032" cy="357138"/>
            </a:xfrm>
            <a:prstGeom prst="rect">
              <a:avLst/>
            </a:prstGeom>
            <a:noFill/>
            <a:ln>
              <a:noFill/>
            </a:ln>
          </p:spPr>
          <p:txBody>
            <a:bodyPr anchorCtr="0" anchor="ctr" bIns="27925" lIns="27925" spcFirstLastPara="1" rIns="27925" wrap="square" tIns="27925">
              <a:noAutofit/>
            </a:bodyPr>
            <a:lstStyle/>
            <a:p>
              <a:pPr indent="0" lvl="0" marL="0" marR="0" rtl="0" algn="ctr">
                <a:lnSpc>
                  <a:spcPct val="90000"/>
                </a:lnSpc>
                <a:spcBef>
                  <a:spcPts val="0"/>
                </a:spcBef>
                <a:spcAft>
                  <a:spcPts val="0"/>
                </a:spcAft>
                <a:buClr>
                  <a:schemeClr val="lt1"/>
                </a:buClr>
                <a:buSzPts val="2200"/>
                <a:buFont typeface="Century Gothic"/>
                <a:buNone/>
              </a:pPr>
              <a:r>
                <a:t/>
              </a:r>
              <a:endParaRPr b="0" i="0" sz="2200" u="none" cap="none" strike="noStrike">
                <a:solidFill>
                  <a:schemeClr val="lt1"/>
                </a:solidFill>
                <a:latin typeface="Century Gothic"/>
                <a:ea typeface="Century Gothic"/>
                <a:cs typeface="Century Gothic"/>
                <a:sym typeface="Century Gothic"/>
              </a:endParaRPr>
            </a:p>
          </p:txBody>
        </p:sp>
        <p:sp>
          <p:nvSpPr>
            <p:cNvPr id="179" name="Google Shape;179;p3"/>
            <p:cNvSpPr/>
            <p:nvPr/>
          </p:nvSpPr>
          <p:spPr>
            <a:xfrm>
              <a:off x="7307498" y="1364990"/>
              <a:ext cx="474602" cy="474602"/>
            </a:xfrm>
            <a:prstGeom prst="downArrow">
              <a:avLst>
                <a:gd fmla="val 55000" name="adj1"/>
                <a:gd fmla="val 45000" name="adj2"/>
              </a:avLst>
            </a:prstGeom>
            <a:solidFill>
              <a:srgbClr val="F5E5CB">
                <a:alpha val="89803"/>
              </a:srgbClr>
            </a:solidFill>
            <a:ln cap="rnd" cmpd="sng" w="19050">
              <a:solidFill>
                <a:srgbClr val="F5E5C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txBox="1"/>
            <p:nvPr/>
          </p:nvSpPr>
          <p:spPr>
            <a:xfrm>
              <a:off x="7414283" y="1364990"/>
              <a:ext cx="261032" cy="357138"/>
            </a:xfrm>
            <a:prstGeom prst="rect">
              <a:avLst/>
            </a:prstGeom>
            <a:noFill/>
            <a:ln>
              <a:noFill/>
            </a:ln>
          </p:spPr>
          <p:txBody>
            <a:bodyPr anchorCtr="0" anchor="ctr" bIns="27925" lIns="27925" spcFirstLastPara="1" rIns="27925" wrap="square" tIns="27925">
              <a:noAutofit/>
            </a:bodyPr>
            <a:lstStyle/>
            <a:p>
              <a:pPr indent="0" lvl="0" marL="0" marR="0" rtl="0" algn="ctr">
                <a:lnSpc>
                  <a:spcPct val="90000"/>
                </a:lnSpc>
                <a:spcBef>
                  <a:spcPts val="0"/>
                </a:spcBef>
                <a:spcAft>
                  <a:spcPts val="0"/>
                </a:spcAft>
                <a:buClr>
                  <a:schemeClr val="lt1"/>
                </a:buClr>
                <a:buSzPts val="2200"/>
                <a:buFont typeface="Century Gothic"/>
                <a:buNone/>
              </a:pPr>
              <a:r>
                <a:t/>
              </a:r>
              <a:endParaRPr b="0" i="0" sz="2200" u="none" cap="none" strike="noStrike">
                <a:solidFill>
                  <a:schemeClr val="lt1"/>
                </a:solidFill>
                <a:latin typeface="Century Gothic"/>
                <a:ea typeface="Century Gothic"/>
                <a:cs typeface="Century Gothic"/>
                <a:sym typeface="Century Gothic"/>
              </a:endParaRPr>
            </a:p>
          </p:txBody>
        </p:sp>
        <p:sp>
          <p:nvSpPr>
            <p:cNvPr id="181" name="Google Shape;181;p3"/>
            <p:cNvSpPr/>
            <p:nvPr/>
          </p:nvSpPr>
          <p:spPr>
            <a:xfrm>
              <a:off x="7848248" y="2184389"/>
              <a:ext cx="474602" cy="474602"/>
            </a:xfrm>
            <a:prstGeom prst="downArrow">
              <a:avLst>
                <a:gd fmla="val 55000" name="adj1"/>
                <a:gd fmla="val 45000" name="adj2"/>
              </a:avLst>
            </a:prstGeom>
            <a:solidFill>
              <a:srgbClr val="D3E2DB">
                <a:alpha val="89803"/>
              </a:srgbClr>
            </a:solidFill>
            <a:ln cap="rnd" cmpd="sng" w="19050">
              <a:solidFill>
                <a:srgbClr val="D3E2D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txBox="1"/>
            <p:nvPr/>
          </p:nvSpPr>
          <p:spPr>
            <a:xfrm>
              <a:off x="7955033" y="2184389"/>
              <a:ext cx="261032" cy="357138"/>
            </a:xfrm>
            <a:prstGeom prst="rect">
              <a:avLst/>
            </a:prstGeom>
            <a:noFill/>
            <a:ln>
              <a:noFill/>
            </a:ln>
          </p:spPr>
          <p:txBody>
            <a:bodyPr anchorCtr="0" anchor="ctr" bIns="27925" lIns="27925" spcFirstLastPara="1" rIns="27925" wrap="square" tIns="27925">
              <a:noAutofit/>
            </a:bodyPr>
            <a:lstStyle/>
            <a:p>
              <a:pPr indent="0" lvl="0" marL="0" marR="0" rtl="0" algn="ctr">
                <a:lnSpc>
                  <a:spcPct val="90000"/>
                </a:lnSpc>
                <a:spcBef>
                  <a:spcPts val="0"/>
                </a:spcBef>
                <a:spcAft>
                  <a:spcPts val="0"/>
                </a:spcAft>
                <a:buClr>
                  <a:schemeClr val="lt1"/>
                </a:buClr>
                <a:buSzPts val="2200"/>
                <a:buFont typeface="Century Gothic"/>
                <a:buNone/>
              </a:pPr>
              <a:r>
                <a:t/>
              </a:r>
              <a:endParaRPr b="0" i="0" sz="2200" u="none" cap="none" strike="noStrike">
                <a:solidFill>
                  <a:schemeClr val="lt1"/>
                </a:solidFill>
                <a:latin typeface="Century Gothic"/>
                <a:ea typeface="Century Gothic"/>
                <a:cs typeface="Century Gothic"/>
                <a:sym typeface="Century Gothic"/>
              </a:endParaRPr>
            </a:p>
          </p:txBody>
        </p:sp>
        <p:sp>
          <p:nvSpPr>
            <p:cNvPr id="183" name="Google Shape;183;p3"/>
            <p:cNvSpPr/>
            <p:nvPr/>
          </p:nvSpPr>
          <p:spPr>
            <a:xfrm>
              <a:off x="8388998" y="3024071"/>
              <a:ext cx="474602" cy="474602"/>
            </a:xfrm>
            <a:prstGeom prst="downArrow">
              <a:avLst>
                <a:gd fmla="val 55000" name="adj1"/>
                <a:gd fmla="val 45000" name="adj2"/>
              </a:avLst>
            </a:prstGeom>
            <a:solidFill>
              <a:srgbClr val="CFD8DD">
                <a:alpha val="89803"/>
              </a:srgbClr>
            </a:solidFill>
            <a:ln cap="rnd" cmpd="sng" w="19050">
              <a:solidFill>
                <a:srgbClr val="CFD8DD">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txBox="1"/>
            <p:nvPr/>
          </p:nvSpPr>
          <p:spPr>
            <a:xfrm>
              <a:off x="8495783" y="3024071"/>
              <a:ext cx="261032" cy="357138"/>
            </a:xfrm>
            <a:prstGeom prst="rect">
              <a:avLst/>
            </a:prstGeom>
            <a:noFill/>
            <a:ln>
              <a:noFill/>
            </a:ln>
          </p:spPr>
          <p:txBody>
            <a:bodyPr anchorCtr="0" anchor="ctr" bIns="27925" lIns="27925" spcFirstLastPara="1" rIns="27925" wrap="square" tIns="27925">
              <a:noAutofit/>
            </a:bodyPr>
            <a:lstStyle/>
            <a:p>
              <a:pPr indent="0" lvl="0" marL="0" marR="0" rtl="0" algn="ctr">
                <a:lnSpc>
                  <a:spcPct val="90000"/>
                </a:lnSpc>
                <a:spcBef>
                  <a:spcPts val="0"/>
                </a:spcBef>
                <a:spcAft>
                  <a:spcPts val="0"/>
                </a:spcAft>
                <a:buClr>
                  <a:schemeClr val="lt1"/>
                </a:buClr>
                <a:buSzPts val="2200"/>
                <a:buFont typeface="Century Gothic"/>
                <a:buNone/>
              </a:pPr>
              <a:r>
                <a:t/>
              </a:r>
              <a:endParaRPr b="0" i="0" sz="22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8" name="Shape 188"/>
        <p:cNvGrpSpPr/>
        <p:nvPr/>
      </p:nvGrpSpPr>
      <p:grpSpPr>
        <a:xfrm>
          <a:off x="0" y="0"/>
          <a:ext cx="0" cy="0"/>
          <a:chOff x="0" y="0"/>
          <a:chExt cx="0" cy="0"/>
        </a:xfrm>
      </p:grpSpPr>
      <p:sp>
        <p:nvSpPr>
          <p:cNvPr id="189" name="Google Shape;189;p4"/>
          <p:cNvSpPr txBox="1"/>
          <p:nvPr>
            <p:ph type="ctrTitle"/>
          </p:nvPr>
        </p:nvSpPr>
        <p:spPr>
          <a:xfrm>
            <a:off x="4739751" y="768334"/>
            <a:ext cx="6479629" cy="286640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2"/>
              </a:buClr>
              <a:buSzPts val="7200"/>
              <a:buFont typeface="Century Gothic"/>
              <a:buNone/>
            </a:pPr>
            <a:r>
              <a:rPr lang="en-US"/>
              <a:t>Team member details</a:t>
            </a:r>
            <a:endParaRPr/>
          </a:p>
        </p:txBody>
      </p:sp>
      <p:pic>
        <p:nvPicPr>
          <p:cNvPr descr="Large skydiving group mid-air" id="190" name="Google Shape;190;p4"/>
          <p:cNvPicPr preferRelativeResize="0"/>
          <p:nvPr/>
        </p:nvPicPr>
        <p:blipFill rotWithShape="1">
          <a:blip r:embed="rId3">
            <a:alphaModFix/>
          </a:blip>
          <a:srcRect b="3" l="30575" r="28897" t="0"/>
          <a:stretch/>
        </p:blipFill>
        <p:spPr>
          <a:xfrm>
            <a:off x="20" y="1"/>
            <a:ext cx="4173349" cy="6857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4" name="Shape 194"/>
        <p:cNvGrpSpPr/>
        <p:nvPr/>
      </p:nvGrpSpPr>
      <p:grpSpPr>
        <a:xfrm>
          <a:off x="0" y="0"/>
          <a:ext cx="0" cy="0"/>
          <a:chOff x="0" y="0"/>
          <a:chExt cx="0" cy="0"/>
        </a:xfrm>
      </p:grpSpPr>
      <p:sp>
        <p:nvSpPr>
          <p:cNvPr id="195" name="Google Shape;195;p5"/>
          <p:cNvSpPr txBox="1"/>
          <p:nvPr>
            <p:ph type="title"/>
          </p:nvPr>
        </p:nvSpPr>
        <p:spPr>
          <a:xfrm>
            <a:off x="565151" y="770889"/>
            <a:ext cx="4133560"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TEAM MEMBER 1</a:t>
            </a:r>
            <a:endParaRPr/>
          </a:p>
        </p:txBody>
      </p:sp>
      <p:grpSp>
        <p:nvGrpSpPr>
          <p:cNvPr id="196" name="Google Shape;196;p5"/>
          <p:cNvGrpSpPr/>
          <p:nvPr/>
        </p:nvGrpSpPr>
        <p:grpSpPr>
          <a:xfrm>
            <a:off x="5316278" y="813307"/>
            <a:ext cx="6104761" cy="5455633"/>
            <a:chOff x="0" y="4268"/>
            <a:chExt cx="6104761" cy="5455633"/>
          </a:xfrm>
        </p:grpSpPr>
        <p:sp>
          <p:nvSpPr>
            <p:cNvPr id="197" name="Google Shape;197;p5"/>
            <p:cNvSpPr/>
            <p:nvPr/>
          </p:nvSpPr>
          <p:spPr>
            <a:xfrm>
              <a:off x="0" y="426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275054" y="208855"/>
              <a:ext cx="500099" cy="50009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1050209" y="426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txBox="1"/>
            <p:nvPr/>
          </p:nvSpPr>
          <p:spPr>
            <a:xfrm>
              <a:off x="1050209" y="426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NAME                  Pushpal Das .</a:t>
              </a:r>
              <a:endParaRPr b="0" i="0" sz="1600" u="none" cap="none" strike="noStrike">
                <a:solidFill>
                  <a:schemeClr val="lt1"/>
                </a:solidFill>
                <a:latin typeface="Century Gothic"/>
                <a:ea typeface="Century Gothic"/>
                <a:cs typeface="Century Gothic"/>
                <a:sym typeface="Century Gothic"/>
              </a:endParaRPr>
            </a:p>
          </p:txBody>
        </p:sp>
        <p:sp>
          <p:nvSpPr>
            <p:cNvPr id="201" name="Google Shape;201;p5"/>
            <p:cNvSpPr/>
            <p:nvPr/>
          </p:nvSpPr>
          <p:spPr>
            <a:xfrm>
              <a:off x="0" y="114085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275054" y="1345445"/>
              <a:ext cx="500099" cy="50009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1050209" y="114085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txBox="1"/>
            <p:nvPr/>
          </p:nvSpPr>
          <p:spPr>
            <a:xfrm>
              <a:off x="1050209" y="114085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EMAIL ID          </a:t>
              </a:r>
              <a:r>
                <a:rPr b="0" i="0" lang="en-US" sz="1600" u="sng" cap="none" strike="noStrike">
                  <a:solidFill>
                    <a:schemeClr val="lt1"/>
                  </a:solidFill>
                  <a:latin typeface="Century Gothic"/>
                  <a:ea typeface="Century Gothic"/>
                  <a:cs typeface="Century Gothic"/>
                  <a:sym typeface="Century Gothic"/>
                  <a:hlinkClick r:id="rId5">
                    <a:extLst>
                      <a:ext uri="{A12FA001-AC4F-418D-AE19-62706E023703}">
                        <ahyp:hlinkClr val="tx"/>
                      </a:ext>
                    </a:extLst>
                  </a:hlinkClick>
                </a:rPr>
                <a:t>pushpaldas2001@gmail.com</a:t>
              </a:r>
              <a:r>
                <a:rPr b="0" i="0" lang="en-US" sz="1600" u="none" cap="none" strike="noStrike">
                  <a:solidFill>
                    <a:schemeClr val="lt1"/>
                  </a:solidFill>
                  <a:latin typeface="Century Gothic"/>
                  <a:ea typeface="Century Gothic"/>
                  <a:cs typeface="Century Gothic"/>
                  <a:sym typeface="Century Gothic"/>
                </a:rPr>
                <a:t> .</a:t>
              </a:r>
              <a:endParaRPr b="0" i="0" sz="1600" u="none" cap="none" strike="noStrike">
                <a:solidFill>
                  <a:schemeClr val="lt1"/>
                </a:solidFill>
                <a:latin typeface="Century Gothic"/>
                <a:ea typeface="Century Gothic"/>
                <a:cs typeface="Century Gothic"/>
                <a:sym typeface="Century Gothic"/>
              </a:endParaRPr>
            </a:p>
          </p:txBody>
        </p:sp>
        <p:sp>
          <p:nvSpPr>
            <p:cNvPr id="205" name="Google Shape;205;p5"/>
            <p:cNvSpPr/>
            <p:nvPr/>
          </p:nvSpPr>
          <p:spPr>
            <a:xfrm>
              <a:off x="0" y="227744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275054" y="2482035"/>
              <a:ext cx="500099" cy="500099"/>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1050209" y="227744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txBox="1"/>
            <p:nvPr/>
          </p:nvSpPr>
          <p:spPr>
            <a:xfrm>
              <a:off x="1050209" y="227744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DISCIPLINE      Electronics and Communication Engineering .</a:t>
              </a:r>
              <a:endParaRPr b="0" i="0" sz="1600" u="none" cap="none" strike="noStrike">
                <a:solidFill>
                  <a:schemeClr val="lt1"/>
                </a:solidFill>
                <a:latin typeface="Century Gothic"/>
                <a:ea typeface="Century Gothic"/>
                <a:cs typeface="Century Gothic"/>
                <a:sym typeface="Century Gothic"/>
              </a:endParaRPr>
            </a:p>
          </p:txBody>
        </p:sp>
        <p:sp>
          <p:nvSpPr>
            <p:cNvPr id="209" name="Google Shape;209;p5"/>
            <p:cNvSpPr/>
            <p:nvPr/>
          </p:nvSpPr>
          <p:spPr>
            <a:xfrm>
              <a:off x="0" y="3414039"/>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275054" y="3618625"/>
              <a:ext cx="500099" cy="500099"/>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1050209" y="3414039"/>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txBox="1"/>
            <p:nvPr/>
          </p:nvSpPr>
          <p:spPr>
            <a:xfrm>
              <a:off x="1050209" y="3414039"/>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YEAR               3rd year . </a:t>
              </a:r>
              <a:endParaRPr b="0" i="0" sz="1600" u="none" cap="none" strike="noStrike">
                <a:solidFill>
                  <a:schemeClr val="lt1"/>
                </a:solidFill>
                <a:latin typeface="Century Gothic"/>
                <a:ea typeface="Century Gothic"/>
                <a:cs typeface="Century Gothic"/>
                <a:sym typeface="Century Gothic"/>
              </a:endParaRPr>
            </a:p>
          </p:txBody>
        </p:sp>
        <p:sp>
          <p:nvSpPr>
            <p:cNvPr id="213" name="Google Shape;213;p5"/>
            <p:cNvSpPr/>
            <p:nvPr/>
          </p:nvSpPr>
          <p:spPr>
            <a:xfrm>
              <a:off x="0" y="4550629"/>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275054" y="4755215"/>
              <a:ext cx="500099" cy="500099"/>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a:off x="1050209" y="4550629"/>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txBox="1"/>
            <p:nvPr/>
          </p:nvSpPr>
          <p:spPr>
            <a:xfrm>
              <a:off x="1050209" y="4550629"/>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MOBILE           8910497557 .</a:t>
              </a:r>
              <a:endParaRPr b="0" i="0" sz="16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0" name="Shape 220"/>
        <p:cNvGrpSpPr/>
        <p:nvPr/>
      </p:nvGrpSpPr>
      <p:grpSpPr>
        <a:xfrm>
          <a:off x="0" y="0"/>
          <a:ext cx="0" cy="0"/>
          <a:chOff x="0" y="0"/>
          <a:chExt cx="0" cy="0"/>
        </a:xfrm>
      </p:grpSpPr>
      <p:sp>
        <p:nvSpPr>
          <p:cNvPr id="221" name="Google Shape;221;p6"/>
          <p:cNvSpPr txBox="1"/>
          <p:nvPr>
            <p:ph type="title"/>
          </p:nvPr>
        </p:nvSpPr>
        <p:spPr>
          <a:xfrm>
            <a:off x="565151" y="770889"/>
            <a:ext cx="4133560"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TEAM MEMBER 2</a:t>
            </a:r>
            <a:endParaRPr/>
          </a:p>
        </p:txBody>
      </p:sp>
      <p:grpSp>
        <p:nvGrpSpPr>
          <p:cNvPr id="222" name="Google Shape;222;p6"/>
          <p:cNvGrpSpPr/>
          <p:nvPr/>
        </p:nvGrpSpPr>
        <p:grpSpPr>
          <a:xfrm>
            <a:off x="5316278" y="813307"/>
            <a:ext cx="6104761" cy="5455633"/>
            <a:chOff x="0" y="4268"/>
            <a:chExt cx="6104761" cy="5455633"/>
          </a:xfrm>
        </p:grpSpPr>
        <p:sp>
          <p:nvSpPr>
            <p:cNvPr id="223" name="Google Shape;223;p6"/>
            <p:cNvSpPr/>
            <p:nvPr/>
          </p:nvSpPr>
          <p:spPr>
            <a:xfrm>
              <a:off x="0" y="426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275054" y="208855"/>
              <a:ext cx="500099" cy="50009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
            <p:cNvSpPr/>
            <p:nvPr/>
          </p:nvSpPr>
          <p:spPr>
            <a:xfrm>
              <a:off x="1050209" y="426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6"/>
            <p:cNvSpPr txBox="1"/>
            <p:nvPr/>
          </p:nvSpPr>
          <p:spPr>
            <a:xfrm>
              <a:off x="1050209" y="426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u="none" cap="none" strike="noStrike">
                  <a:solidFill>
                    <a:schemeClr val="lt1"/>
                  </a:solidFill>
                  <a:latin typeface="Century Gothic"/>
                  <a:ea typeface="Century Gothic"/>
                  <a:cs typeface="Century Gothic"/>
                  <a:sym typeface="Century Gothic"/>
                </a:rPr>
                <a:t>NAME                 Abhishek Sarkar.</a:t>
              </a:r>
              <a:endParaRPr b="0" i="0" sz="1900" u="none" cap="none" strike="noStrike">
                <a:solidFill>
                  <a:schemeClr val="lt1"/>
                </a:solidFill>
                <a:latin typeface="Century Gothic"/>
                <a:ea typeface="Century Gothic"/>
                <a:cs typeface="Century Gothic"/>
                <a:sym typeface="Century Gothic"/>
              </a:endParaRPr>
            </a:p>
          </p:txBody>
        </p:sp>
        <p:sp>
          <p:nvSpPr>
            <p:cNvPr id="227" name="Google Shape;227;p6"/>
            <p:cNvSpPr/>
            <p:nvPr/>
          </p:nvSpPr>
          <p:spPr>
            <a:xfrm>
              <a:off x="0" y="114085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p:nvPr/>
          </p:nvSpPr>
          <p:spPr>
            <a:xfrm>
              <a:off x="275054" y="1345445"/>
              <a:ext cx="500099" cy="50009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6"/>
            <p:cNvSpPr/>
            <p:nvPr/>
          </p:nvSpPr>
          <p:spPr>
            <a:xfrm>
              <a:off x="1050209" y="114085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txBox="1"/>
            <p:nvPr/>
          </p:nvSpPr>
          <p:spPr>
            <a:xfrm>
              <a:off x="1050209" y="114085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u="none" cap="none" strike="noStrike">
                  <a:solidFill>
                    <a:schemeClr val="lt1"/>
                  </a:solidFill>
                  <a:latin typeface="Century Gothic"/>
                  <a:ea typeface="Century Gothic"/>
                  <a:cs typeface="Century Gothic"/>
                  <a:sym typeface="Century Gothic"/>
                </a:rPr>
                <a:t>EMAIL ID          </a:t>
              </a:r>
              <a:r>
                <a:rPr b="0" i="0" lang="en-US" sz="1900" u="sng" cap="none" strike="noStrike">
                  <a:solidFill>
                    <a:schemeClr val="lt1"/>
                  </a:solidFill>
                  <a:latin typeface="Century Gothic"/>
                  <a:ea typeface="Century Gothic"/>
                  <a:cs typeface="Century Gothic"/>
                  <a:sym typeface="Century Gothic"/>
                  <a:hlinkClick r:id="rId5">
                    <a:extLst>
                      <a:ext uri="{A12FA001-AC4F-418D-AE19-62706E023703}">
                        <ahyp:hlinkClr val="tx"/>
                      </a:ext>
                    </a:extLst>
                  </a:hlinkClick>
                </a:rPr>
                <a:t>abhisrkr007@gmail.com</a:t>
              </a:r>
              <a:r>
                <a:rPr b="0" i="0" lang="en-US" sz="1900" u="none" cap="none" strike="noStrike">
                  <a:solidFill>
                    <a:schemeClr val="lt1"/>
                  </a:solidFill>
                  <a:latin typeface="Century Gothic"/>
                  <a:ea typeface="Century Gothic"/>
                  <a:cs typeface="Century Gothic"/>
                  <a:sym typeface="Century Gothic"/>
                </a:rPr>
                <a:t> .</a:t>
              </a:r>
              <a:endParaRPr b="1" i="0" sz="1900" u="none" cap="none" strike="noStrike">
                <a:solidFill>
                  <a:schemeClr val="lt1"/>
                </a:solidFill>
                <a:latin typeface="Century Gothic"/>
                <a:ea typeface="Century Gothic"/>
                <a:cs typeface="Century Gothic"/>
                <a:sym typeface="Century Gothic"/>
              </a:endParaRPr>
            </a:p>
          </p:txBody>
        </p:sp>
        <p:sp>
          <p:nvSpPr>
            <p:cNvPr id="231" name="Google Shape;231;p6"/>
            <p:cNvSpPr/>
            <p:nvPr/>
          </p:nvSpPr>
          <p:spPr>
            <a:xfrm>
              <a:off x="0" y="227744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6"/>
            <p:cNvSpPr/>
            <p:nvPr/>
          </p:nvSpPr>
          <p:spPr>
            <a:xfrm>
              <a:off x="275054" y="2482035"/>
              <a:ext cx="500099" cy="500099"/>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p:nvPr/>
          </p:nvSpPr>
          <p:spPr>
            <a:xfrm>
              <a:off x="1050209" y="227744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txBox="1"/>
            <p:nvPr/>
          </p:nvSpPr>
          <p:spPr>
            <a:xfrm>
              <a:off x="1050209" y="227744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u="none" cap="none" strike="noStrike">
                  <a:solidFill>
                    <a:schemeClr val="lt1"/>
                  </a:solidFill>
                  <a:latin typeface="Century Gothic"/>
                  <a:ea typeface="Century Gothic"/>
                  <a:cs typeface="Century Gothic"/>
                  <a:sym typeface="Century Gothic"/>
                </a:rPr>
                <a:t>DISCIPLINE      Electronics and Teleommunication Engineering.</a:t>
              </a:r>
              <a:endParaRPr b="0" i="0" sz="1900" u="none" cap="none" strike="noStrike">
                <a:solidFill>
                  <a:schemeClr val="lt1"/>
                </a:solidFill>
                <a:latin typeface="Century Gothic"/>
                <a:ea typeface="Century Gothic"/>
                <a:cs typeface="Century Gothic"/>
                <a:sym typeface="Century Gothic"/>
              </a:endParaRPr>
            </a:p>
          </p:txBody>
        </p:sp>
        <p:sp>
          <p:nvSpPr>
            <p:cNvPr id="235" name="Google Shape;235;p6"/>
            <p:cNvSpPr/>
            <p:nvPr/>
          </p:nvSpPr>
          <p:spPr>
            <a:xfrm>
              <a:off x="0" y="3414039"/>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p:nvPr/>
          </p:nvSpPr>
          <p:spPr>
            <a:xfrm>
              <a:off x="275054" y="3618625"/>
              <a:ext cx="500099" cy="500099"/>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6"/>
            <p:cNvSpPr/>
            <p:nvPr/>
          </p:nvSpPr>
          <p:spPr>
            <a:xfrm>
              <a:off x="1050209" y="3414039"/>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6"/>
            <p:cNvSpPr txBox="1"/>
            <p:nvPr/>
          </p:nvSpPr>
          <p:spPr>
            <a:xfrm>
              <a:off x="1050209" y="3414039"/>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u="none" cap="none" strike="noStrike">
                  <a:solidFill>
                    <a:schemeClr val="lt1"/>
                  </a:solidFill>
                  <a:latin typeface="Century Gothic"/>
                  <a:ea typeface="Century Gothic"/>
                  <a:cs typeface="Century Gothic"/>
                  <a:sym typeface="Century Gothic"/>
                </a:rPr>
                <a:t>YEAR               3rd year.</a:t>
              </a:r>
              <a:endParaRPr b="0" i="0" sz="1900" u="none" cap="none" strike="noStrike">
                <a:solidFill>
                  <a:schemeClr val="lt1"/>
                </a:solidFill>
                <a:latin typeface="Century Gothic"/>
                <a:ea typeface="Century Gothic"/>
                <a:cs typeface="Century Gothic"/>
                <a:sym typeface="Century Gothic"/>
              </a:endParaRPr>
            </a:p>
          </p:txBody>
        </p:sp>
        <p:sp>
          <p:nvSpPr>
            <p:cNvPr id="239" name="Google Shape;239;p6"/>
            <p:cNvSpPr/>
            <p:nvPr/>
          </p:nvSpPr>
          <p:spPr>
            <a:xfrm>
              <a:off x="0" y="4550629"/>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p:nvPr/>
          </p:nvSpPr>
          <p:spPr>
            <a:xfrm>
              <a:off x="275054" y="4755215"/>
              <a:ext cx="500099" cy="500099"/>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p:nvPr/>
          </p:nvSpPr>
          <p:spPr>
            <a:xfrm>
              <a:off x="1050209" y="4550629"/>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
            <p:cNvSpPr txBox="1"/>
            <p:nvPr/>
          </p:nvSpPr>
          <p:spPr>
            <a:xfrm>
              <a:off x="1050209" y="4550629"/>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u="none" cap="none" strike="noStrike">
                  <a:solidFill>
                    <a:schemeClr val="lt1"/>
                  </a:solidFill>
                  <a:latin typeface="Century Gothic"/>
                  <a:ea typeface="Century Gothic"/>
                  <a:cs typeface="Century Gothic"/>
                  <a:sym typeface="Century Gothic"/>
                </a:rPr>
                <a:t>MOBILE           6290782054</a:t>
              </a:r>
              <a:r>
                <a:rPr b="1" i="0" lang="en-US" sz="1900" u="none" cap="none" strike="noStrike">
                  <a:solidFill>
                    <a:schemeClr val="lt1"/>
                  </a:solidFill>
                  <a:latin typeface="Century Gothic"/>
                  <a:ea typeface="Century Gothic"/>
                  <a:cs typeface="Century Gothic"/>
                  <a:sym typeface="Century Gothic"/>
                </a:rPr>
                <a:t>.</a:t>
              </a:r>
              <a:endParaRPr b="0" i="0" sz="19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6" name="Shape 246"/>
        <p:cNvGrpSpPr/>
        <p:nvPr/>
      </p:nvGrpSpPr>
      <p:grpSpPr>
        <a:xfrm>
          <a:off x="0" y="0"/>
          <a:ext cx="0" cy="0"/>
          <a:chOff x="0" y="0"/>
          <a:chExt cx="0" cy="0"/>
        </a:xfrm>
      </p:grpSpPr>
      <p:sp>
        <p:nvSpPr>
          <p:cNvPr id="247" name="Google Shape;247;p7"/>
          <p:cNvSpPr txBox="1"/>
          <p:nvPr>
            <p:ph type="title"/>
          </p:nvPr>
        </p:nvSpPr>
        <p:spPr>
          <a:xfrm>
            <a:off x="565151" y="770889"/>
            <a:ext cx="4133560"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TEAM MEMBER 3</a:t>
            </a:r>
            <a:endParaRPr/>
          </a:p>
        </p:txBody>
      </p:sp>
      <p:grpSp>
        <p:nvGrpSpPr>
          <p:cNvPr id="248" name="Google Shape;248;p7"/>
          <p:cNvGrpSpPr/>
          <p:nvPr/>
        </p:nvGrpSpPr>
        <p:grpSpPr>
          <a:xfrm>
            <a:off x="5316278" y="813307"/>
            <a:ext cx="6104761" cy="5455633"/>
            <a:chOff x="0" y="4268"/>
            <a:chExt cx="6104761" cy="5455633"/>
          </a:xfrm>
        </p:grpSpPr>
        <p:sp>
          <p:nvSpPr>
            <p:cNvPr id="249" name="Google Shape;249;p7"/>
            <p:cNvSpPr/>
            <p:nvPr/>
          </p:nvSpPr>
          <p:spPr>
            <a:xfrm>
              <a:off x="0" y="426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275054" y="208855"/>
              <a:ext cx="500099" cy="50009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1050209" y="426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txBox="1"/>
            <p:nvPr/>
          </p:nvSpPr>
          <p:spPr>
            <a:xfrm>
              <a:off x="1050209" y="426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NAME                   Santhosh Kumar. R.</a:t>
              </a:r>
              <a:endParaRPr/>
            </a:p>
          </p:txBody>
        </p:sp>
        <p:sp>
          <p:nvSpPr>
            <p:cNvPr id="253" name="Google Shape;253;p7"/>
            <p:cNvSpPr/>
            <p:nvPr/>
          </p:nvSpPr>
          <p:spPr>
            <a:xfrm>
              <a:off x="0" y="114085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275054" y="1345445"/>
              <a:ext cx="500099" cy="50009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a:off x="1050209" y="114085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txBox="1"/>
            <p:nvPr/>
          </p:nvSpPr>
          <p:spPr>
            <a:xfrm>
              <a:off x="1050209" y="114085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EMAIL ID          </a:t>
              </a:r>
              <a:r>
                <a:rPr b="0" i="0" lang="en-US" sz="1600" u="sng" cap="none" strike="noStrike">
                  <a:solidFill>
                    <a:schemeClr val="lt1"/>
                  </a:solidFill>
                  <a:latin typeface="Century Gothic"/>
                  <a:ea typeface="Century Gothic"/>
                  <a:cs typeface="Century Gothic"/>
                  <a:sym typeface="Century Gothic"/>
                  <a:hlinkClick r:id="rId5">
                    <a:extLst>
                      <a:ext uri="{A12FA001-AC4F-418D-AE19-62706E023703}">
                        <ahyp:hlinkClr val="tx"/>
                      </a:ext>
                    </a:extLst>
                  </a:hlinkClick>
                </a:rPr>
                <a:t>klt.santhosh2002@gmail.com</a:t>
              </a:r>
              <a:r>
                <a:rPr b="0" i="0" lang="en-US" sz="1600" u="none" cap="none" strike="noStrike">
                  <a:solidFill>
                    <a:schemeClr val="lt1"/>
                  </a:solidFill>
                  <a:latin typeface="Century Gothic"/>
                  <a:ea typeface="Century Gothic"/>
                  <a:cs typeface="Century Gothic"/>
                  <a:sym typeface="Century Gothic"/>
                </a:rPr>
                <a:t> .</a:t>
              </a:r>
              <a:endParaRPr b="0" i="0" sz="1600" u="none" cap="none" strike="noStrike">
                <a:solidFill>
                  <a:schemeClr val="lt1"/>
                </a:solidFill>
                <a:latin typeface="Century Gothic"/>
                <a:ea typeface="Century Gothic"/>
                <a:cs typeface="Century Gothic"/>
                <a:sym typeface="Century Gothic"/>
              </a:endParaRPr>
            </a:p>
          </p:txBody>
        </p:sp>
        <p:sp>
          <p:nvSpPr>
            <p:cNvPr id="257" name="Google Shape;257;p7"/>
            <p:cNvSpPr/>
            <p:nvPr/>
          </p:nvSpPr>
          <p:spPr>
            <a:xfrm>
              <a:off x="0" y="227744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a:off x="275054" y="2482035"/>
              <a:ext cx="500099" cy="500099"/>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1050209" y="227744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txBox="1"/>
            <p:nvPr/>
          </p:nvSpPr>
          <p:spPr>
            <a:xfrm>
              <a:off x="1050209" y="227744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DISCIPLINE      Electronics and Communication Engineering.</a:t>
              </a:r>
              <a:endParaRPr b="0" i="0" sz="1600" u="none" cap="none" strike="noStrike">
                <a:solidFill>
                  <a:schemeClr val="lt1"/>
                </a:solidFill>
                <a:latin typeface="Century Gothic"/>
                <a:ea typeface="Century Gothic"/>
                <a:cs typeface="Century Gothic"/>
                <a:sym typeface="Century Gothic"/>
              </a:endParaRPr>
            </a:p>
          </p:txBody>
        </p:sp>
        <p:sp>
          <p:nvSpPr>
            <p:cNvPr id="261" name="Google Shape;261;p7"/>
            <p:cNvSpPr/>
            <p:nvPr/>
          </p:nvSpPr>
          <p:spPr>
            <a:xfrm>
              <a:off x="0" y="3414039"/>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275054" y="3618625"/>
              <a:ext cx="500099" cy="500099"/>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1050209" y="3414039"/>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txBox="1"/>
            <p:nvPr/>
          </p:nvSpPr>
          <p:spPr>
            <a:xfrm>
              <a:off x="1050209" y="3414039"/>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YEAR               3rd year.</a:t>
              </a:r>
              <a:endParaRPr b="0" i="0" sz="1600" u="none" cap="none" strike="noStrike">
                <a:solidFill>
                  <a:schemeClr val="lt1"/>
                </a:solidFill>
                <a:latin typeface="Century Gothic"/>
                <a:ea typeface="Century Gothic"/>
                <a:cs typeface="Century Gothic"/>
                <a:sym typeface="Century Gothic"/>
              </a:endParaRPr>
            </a:p>
          </p:txBody>
        </p:sp>
        <p:sp>
          <p:nvSpPr>
            <p:cNvPr id="265" name="Google Shape;265;p7"/>
            <p:cNvSpPr/>
            <p:nvPr/>
          </p:nvSpPr>
          <p:spPr>
            <a:xfrm>
              <a:off x="0" y="4550629"/>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275054" y="4755215"/>
              <a:ext cx="500099" cy="500099"/>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
            <p:cNvSpPr/>
            <p:nvPr/>
          </p:nvSpPr>
          <p:spPr>
            <a:xfrm>
              <a:off x="1050209" y="4550629"/>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txBox="1"/>
            <p:nvPr/>
          </p:nvSpPr>
          <p:spPr>
            <a:xfrm>
              <a:off x="1050209" y="4550629"/>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MOBILE           9677867812.</a:t>
              </a:r>
              <a:endParaRPr b="0" i="0" sz="16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2" name="Shape 272"/>
        <p:cNvGrpSpPr/>
        <p:nvPr/>
      </p:nvGrpSpPr>
      <p:grpSpPr>
        <a:xfrm>
          <a:off x="0" y="0"/>
          <a:ext cx="0" cy="0"/>
          <a:chOff x="0" y="0"/>
          <a:chExt cx="0" cy="0"/>
        </a:xfrm>
      </p:grpSpPr>
      <p:sp>
        <p:nvSpPr>
          <p:cNvPr id="273" name="Google Shape;273;p8"/>
          <p:cNvSpPr txBox="1"/>
          <p:nvPr>
            <p:ph type="title"/>
          </p:nvPr>
        </p:nvSpPr>
        <p:spPr>
          <a:xfrm>
            <a:off x="565151" y="770889"/>
            <a:ext cx="4133560"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TEAM MEMBER 4</a:t>
            </a:r>
            <a:endParaRPr/>
          </a:p>
        </p:txBody>
      </p:sp>
      <p:grpSp>
        <p:nvGrpSpPr>
          <p:cNvPr id="274" name="Google Shape;274;p8"/>
          <p:cNvGrpSpPr/>
          <p:nvPr/>
        </p:nvGrpSpPr>
        <p:grpSpPr>
          <a:xfrm>
            <a:off x="4696762" y="1046177"/>
            <a:ext cx="5415633" cy="5075227"/>
            <a:chOff x="0" y="3971"/>
            <a:chExt cx="5415633" cy="5075227"/>
          </a:xfrm>
        </p:grpSpPr>
        <p:sp>
          <p:nvSpPr>
            <p:cNvPr id="275" name="Google Shape;275;p8"/>
            <p:cNvSpPr/>
            <p:nvPr/>
          </p:nvSpPr>
          <p:spPr>
            <a:xfrm>
              <a:off x="0" y="3971"/>
              <a:ext cx="5415633" cy="845871"/>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255876" y="194292"/>
              <a:ext cx="465229" cy="46522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a:off x="976981" y="3971"/>
              <a:ext cx="4438651" cy="84587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txBox="1"/>
            <p:nvPr/>
          </p:nvSpPr>
          <p:spPr>
            <a:xfrm>
              <a:off x="976981" y="3971"/>
              <a:ext cx="4438651" cy="845871"/>
            </a:xfrm>
            <a:prstGeom prst="rect">
              <a:avLst/>
            </a:prstGeom>
            <a:noFill/>
            <a:ln>
              <a:noFill/>
            </a:ln>
          </p:spPr>
          <p:txBody>
            <a:bodyPr anchorCtr="0" anchor="ctr" bIns="89500" lIns="89500" spcFirstLastPara="1" rIns="89500" wrap="square" tIns="89500">
              <a:noAutofit/>
            </a:bodyPr>
            <a:lstStyle/>
            <a:p>
              <a:pPr indent="0" lvl="0" marL="0" marR="0" rtl="0" algn="l">
                <a:lnSpc>
                  <a:spcPct val="10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NAME                 Suriya Devalan AR.</a:t>
              </a:r>
              <a:endParaRPr b="0" i="0" sz="1800" u="none" cap="none" strike="noStrike">
                <a:solidFill>
                  <a:schemeClr val="lt1"/>
                </a:solidFill>
                <a:latin typeface="Century Gothic"/>
                <a:ea typeface="Century Gothic"/>
                <a:cs typeface="Century Gothic"/>
                <a:sym typeface="Century Gothic"/>
              </a:endParaRPr>
            </a:p>
          </p:txBody>
        </p:sp>
        <p:sp>
          <p:nvSpPr>
            <p:cNvPr id="279" name="Google Shape;279;p8"/>
            <p:cNvSpPr/>
            <p:nvPr/>
          </p:nvSpPr>
          <p:spPr>
            <a:xfrm>
              <a:off x="0" y="1061310"/>
              <a:ext cx="5415633" cy="845871"/>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255876" y="1251631"/>
              <a:ext cx="465229" cy="46522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a:off x="976981" y="1061310"/>
              <a:ext cx="4438651" cy="84587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txBox="1"/>
            <p:nvPr/>
          </p:nvSpPr>
          <p:spPr>
            <a:xfrm>
              <a:off x="976981" y="1061310"/>
              <a:ext cx="4438651" cy="845871"/>
            </a:xfrm>
            <a:prstGeom prst="rect">
              <a:avLst/>
            </a:prstGeom>
            <a:noFill/>
            <a:ln>
              <a:noFill/>
            </a:ln>
          </p:spPr>
          <p:txBody>
            <a:bodyPr anchorCtr="0" anchor="ctr" bIns="89500" lIns="89500" spcFirstLastPara="1" rIns="89500" wrap="square" tIns="89500">
              <a:noAutofit/>
            </a:bodyPr>
            <a:lstStyle/>
            <a:p>
              <a:pPr indent="0" lvl="0" marL="0" marR="0" rtl="0" algn="l">
                <a:lnSpc>
                  <a:spcPct val="10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EMAIL ID          </a:t>
              </a:r>
              <a:r>
                <a:rPr b="0" i="0" lang="en-US" sz="1800" u="sng" cap="none" strike="noStrike">
                  <a:solidFill>
                    <a:schemeClr val="lt1"/>
                  </a:solidFill>
                  <a:latin typeface="Century Gothic"/>
                  <a:ea typeface="Century Gothic"/>
                  <a:cs typeface="Century Gothic"/>
                  <a:sym typeface="Century Gothic"/>
                  <a:hlinkClick r:id="rId5">
                    <a:extLst>
                      <a:ext uri="{A12FA001-AC4F-418D-AE19-62706E023703}">
                        <ahyp:hlinkClr val="tx"/>
                      </a:ext>
                    </a:extLst>
                  </a:hlinkClick>
                </a:rPr>
                <a:t>as5539@srmist.edu.in</a:t>
              </a:r>
              <a:r>
                <a:rPr b="0" i="0" lang="en-US" sz="1800" u="none" cap="none" strike="noStrike">
                  <a:solidFill>
                    <a:schemeClr val="lt1"/>
                  </a:solidFill>
                  <a:latin typeface="Century Gothic"/>
                  <a:ea typeface="Century Gothic"/>
                  <a:cs typeface="Century Gothic"/>
                  <a:sym typeface="Century Gothic"/>
                </a:rPr>
                <a:t>. </a:t>
              </a:r>
              <a:endParaRPr b="1" i="0" sz="1800" u="none" cap="none" strike="noStrike">
                <a:solidFill>
                  <a:schemeClr val="lt1"/>
                </a:solidFill>
                <a:latin typeface="Century Gothic"/>
                <a:ea typeface="Century Gothic"/>
                <a:cs typeface="Century Gothic"/>
                <a:sym typeface="Century Gothic"/>
              </a:endParaRPr>
            </a:p>
          </p:txBody>
        </p:sp>
        <p:sp>
          <p:nvSpPr>
            <p:cNvPr id="283" name="Google Shape;283;p8"/>
            <p:cNvSpPr/>
            <p:nvPr/>
          </p:nvSpPr>
          <p:spPr>
            <a:xfrm>
              <a:off x="0" y="2118649"/>
              <a:ext cx="5415633" cy="845871"/>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255876" y="2308970"/>
              <a:ext cx="465229" cy="465229"/>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
            <p:cNvSpPr/>
            <p:nvPr/>
          </p:nvSpPr>
          <p:spPr>
            <a:xfrm>
              <a:off x="976981" y="2118649"/>
              <a:ext cx="4438651" cy="84587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txBox="1"/>
            <p:nvPr/>
          </p:nvSpPr>
          <p:spPr>
            <a:xfrm>
              <a:off x="976981" y="2118649"/>
              <a:ext cx="4438651" cy="845871"/>
            </a:xfrm>
            <a:prstGeom prst="rect">
              <a:avLst/>
            </a:prstGeom>
            <a:noFill/>
            <a:ln>
              <a:noFill/>
            </a:ln>
          </p:spPr>
          <p:txBody>
            <a:bodyPr anchorCtr="0" anchor="ctr" bIns="89500" lIns="89500" spcFirstLastPara="1" rIns="89500" wrap="square" tIns="89500">
              <a:noAutofit/>
            </a:bodyPr>
            <a:lstStyle/>
            <a:p>
              <a:pPr indent="0" lvl="0" marL="0" marR="0" rtl="0" algn="l">
                <a:lnSpc>
                  <a:spcPct val="10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DISCIPLINE      Mechanical Engineering.</a:t>
              </a:r>
              <a:endParaRPr b="0" i="0" sz="1800" u="none" cap="none" strike="noStrike">
                <a:solidFill>
                  <a:schemeClr val="lt1"/>
                </a:solidFill>
                <a:latin typeface="Century Gothic"/>
                <a:ea typeface="Century Gothic"/>
                <a:cs typeface="Century Gothic"/>
                <a:sym typeface="Century Gothic"/>
              </a:endParaRPr>
            </a:p>
          </p:txBody>
        </p:sp>
        <p:sp>
          <p:nvSpPr>
            <p:cNvPr id="287" name="Google Shape;287;p8"/>
            <p:cNvSpPr/>
            <p:nvPr/>
          </p:nvSpPr>
          <p:spPr>
            <a:xfrm>
              <a:off x="0" y="3175988"/>
              <a:ext cx="5415633" cy="845871"/>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255876" y="3366309"/>
              <a:ext cx="465229" cy="465229"/>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a:off x="976981" y="3175988"/>
              <a:ext cx="4438651" cy="84587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8"/>
            <p:cNvSpPr txBox="1"/>
            <p:nvPr/>
          </p:nvSpPr>
          <p:spPr>
            <a:xfrm>
              <a:off x="976981" y="3175988"/>
              <a:ext cx="4438651" cy="845871"/>
            </a:xfrm>
            <a:prstGeom prst="rect">
              <a:avLst/>
            </a:prstGeom>
            <a:noFill/>
            <a:ln>
              <a:noFill/>
            </a:ln>
          </p:spPr>
          <p:txBody>
            <a:bodyPr anchorCtr="0" anchor="ctr" bIns="89500" lIns="89500" spcFirstLastPara="1" rIns="89500" wrap="square" tIns="89500">
              <a:noAutofit/>
            </a:bodyPr>
            <a:lstStyle/>
            <a:p>
              <a:pPr indent="0" lvl="0" marL="0" marR="0" rtl="0" algn="l">
                <a:lnSpc>
                  <a:spcPct val="10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YEAR               3rd year.</a:t>
              </a:r>
              <a:endParaRPr b="0" i="0" sz="1800" u="none" cap="none" strike="noStrike">
                <a:solidFill>
                  <a:schemeClr val="lt1"/>
                </a:solidFill>
                <a:latin typeface="Century Gothic"/>
                <a:ea typeface="Century Gothic"/>
                <a:cs typeface="Century Gothic"/>
                <a:sym typeface="Century Gothic"/>
              </a:endParaRPr>
            </a:p>
          </p:txBody>
        </p:sp>
        <p:sp>
          <p:nvSpPr>
            <p:cNvPr id="291" name="Google Shape;291;p8"/>
            <p:cNvSpPr/>
            <p:nvPr/>
          </p:nvSpPr>
          <p:spPr>
            <a:xfrm>
              <a:off x="0" y="4233327"/>
              <a:ext cx="5415633" cy="845871"/>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255876" y="4423648"/>
              <a:ext cx="465229" cy="465229"/>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
            <p:cNvSpPr/>
            <p:nvPr/>
          </p:nvSpPr>
          <p:spPr>
            <a:xfrm>
              <a:off x="976981" y="4233327"/>
              <a:ext cx="4438651" cy="84587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txBox="1"/>
            <p:nvPr/>
          </p:nvSpPr>
          <p:spPr>
            <a:xfrm>
              <a:off x="976981" y="4233327"/>
              <a:ext cx="4438651" cy="845871"/>
            </a:xfrm>
            <a:prstGeom prst="rect">
              <a:avLst/>
            </a:prstGeom>
            <a:noFill/>
            <a:ln>
              <a:noFill/>
            </a:ln>
          </p:spPr>
          <p:txBody>
            <a:bodyPr anchorCtr="0" anchor="ctr" bIns="89500" lIns="89500" spcFirstLastPara="1" rIns="89500" wrap="square" tIns="89500">
              <a:noAutofit/>
            </a:bodyPr>
            <a:lstStyle/>
            <a:p>
              <a:pPr indent="0" lvl="0" marL="0" marR="0" rtl="0" algn="l">
                <a:lnSpc>
                  <a:spcPct val="10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MOBILE           8072137976</a:t>
              </a:r>
              <a:endParaRPr b="0" i="0" sz="1800" u="none" cap="none" strike="noStrike">
                <a:solidFill>
                  <a:schemeClr val="lt1"/>
                </a:solidFill>
                <a:latin typeface="Century Gothic"/>
                <a:ea typeface="Century Gothic"/>
                <a:cs typeface="Century Gothic"/>
                <a:sym typeface="Century Gothic"/>
              </a:endParaRPr>
            </a:p>
          </p:txBody>
        </p:sp>
      </p:grpSp>
      <p:pic>
        <p:nvPicPr>
          <p:cNvPr descr="Logo&#10;&#10;Description automatically generated" id="295" name="Google Shape;295;p8"/>
          <p:cNvPicPr preferRelativeResize="0"/>
          <p:nvPr/>
        </p:nvPicPr>
        <p:blipFill rotWithShape="1">
          <a:blip r:embed="rId9">
            <a:alphaModFix/>
          </a:blip>
          <a:srcRect b="0" l="0" r="0" t="0"/>
          <a:stretch/>
        </p:blipFill>
        <p:spPr>
          <a:xfrm>
            <a:off x="11279436" y="37535"/>
            <a:ext cx="796888" cy="62266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9" name="Shape 299"/>
        <p:cNvGrpSpPr/>
        <p:nvPr/>
      </p:nvGrpSpPr>
      <p:grpSpPr>
        <a:xfrm>
          <a:off x="0" y="0"/>
          <a:ext cx="0" cy="0"/>
          <a:chOff x="0" y="0"/>
          <a:chExt cx="0" cy="0"/>
        </a:xfrm>
      </p:grpSpPr>
      <p:sp>
        <p:nvSpPr>
          <p:cNvPr id="300" name="Google Shape;300;p9"/>
          <p:cNvSpPr txBox="1"/>
          <p:nvPr>
            <p:ph type="title"/>
          </p:nvPr>
        </p:nvSpPr>
        <p:spPr>
          <a:xfrm>
            <a:off x="565150" y="770890"/>
            <a:ext cx="3608387" cy="3395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AUTISM</a:t>
            </a:r>
            <a:endParaRPr/>
          </a:p>
        </p:txBody>
      </p:sp>
      <p:grpSp>
        <p:nvGrpSpPr>
          <p:cNvPr id="301" name="Google Shape;301;p9"/>
          <p:cNvGrpSpPr/>
          <p:nvPr/>
        </p:nvGrpSpPr>
        <p:grpSpPr>
          <a:xfrm>
            <a:off x="5635256" y="1350843"/>
            <a:ext cx="5905254" cy="4156312"/>
            <a:chOff x="0" y="507"/>
            <a:chExt cx="5905254" cy="4156312"/>
          </a:xfrm>
        </p:grpSpPr>
        <p:cxnSp>
          <p:nvCxnSpPr>
            <p:cNvPr id="302" name="Google Shape;302;p9"/>
            <p:cNvCxnSpPr/>
            <p:nvPr/>
          </p:nvCxnSpPr>
          <p:spPr>
            <a:xfrm>
              <a:off x="0" y="507"/>
              <a:ext cx="5905254" cy="0"/>
            </a:xfrm>
            <a:prstGeom prst="straightConnector1">
              <a:avLst/>
            </a:prstGeom>
            <a:solidFill>
              <a:srgbClr val="B01210"/>
            </a:solidFill>
            <a:ln cap="rnd" cmpd="sng" w="19050">
              <a:solidFill>
                <a:srgbClr val="B01210"/>
              </a:solidFill>
              <a:prstDash val="solid"/>
              <a:round/>
              <a:headEnd len="sm" w="sm" type="none"/>
              <a:tailEnd len="sm" w="sm" type="none"/>
            </a:ln>
          </p:spPr>
        </p:cxnSp>
        <p:sp>
          <p:nvSpPr>
            <p:cNvPr id="303" name="Google Shape;303;p9"/>
            <p:cNvSpPr/>
            <p:nvPr/>
          </p:nvSpPr>
          <p:spPr>
            <a:xfrm>
              <a:off x="0" y="507"/>
              <a:ext cx="5905254" cy="8312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txBox="1"/>
            <p:nvPr/>
          </p:nvSpPr>
          <p:spPr>
            <a:xfrm>
              <a:off x="0" y="507"/>
              <a:ext cx="5905254" cy="831262"/>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Autism spectrum disorder , or autism, is a broad term used to describe a group of neurodevelopmental conditions.</a:t>
              </a:r>
              <a:endParaRPr b="0" i="0" sz="1700" u="none" cap="none" strike="noStrike">
                <a:solidFill>
                  <a:schemeClr val="lt1"/>
                </a:solidFill>
                <a:latin typeface="Century Gothic"/>
                <a:ea typeface="Century Gothic"/>
                <a:cs typeface="Century Gothic"/>
                <a:sym typeface="Century Gothic"/>
              </a:endParaRPr>
            </a:p>
          </p:txBody>
        </p:sp>
        <p:cxnSp>
          <p:nvCxnSpPr>
            <p:cNvPr id="305" name="Google Shape;305;p9"/>
            <p:cNvCxnSpPr/>
            <p:nvPr/>
          </p:nvCxnSpPr>
          <p:spPr>
            <a:xfrm>
              <a:off x="0" y="831770"/>
              <a:ext cx="5905254" cy="0"/>
            </a:xfrm>
            <a:prstGeom prst="straightConnector1">
              <a:avLst/>
            </a:prstGeom>
            <a:solidFill>
              <a:srgbClr val="B01210"/>
            </a:solidFill>
            <a:ln cap="rnd" cmpd="sng" w="19050">
              <a:solidFill>
                <a:srgbClr val="B01210"/>
              </a:solidFill>
              <a:prstDash val="solid"/>
              <a:round/>
              <a:headEnd len="sm" w="sm" type="none"/>
              <a:tailEnd len="sm" w="sm" type="none"/>
            </a:ln>
          </p:spPr>
        </p:cxnSp>
        <p:sp>
          <p:nvSpPr>
            <p:cNvPr id="306" name="Google Shape;306;p9"/>
            <p:cNvSpPr/>
            <p:nvPr/>
          </p:nvSpPr>
          <p:spPr>
            <a:xfrm>
              <a:off x="0" y="831770"/>
              <a:ext cx="5905254" cy="8312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9"/>
            <p:cNvSpPr txBox="1"/>
            <p:nvPr/>
          </p:nvSpPr>
          <p:spPr>
            <a:xfrm>
              <a:off x="0" y="831770"/>
              <a:ext cx="5905254" cy="831262"/>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These conditions are characterized by differences in communication and social interaction.</a:t>
              </a:r>
              <a:endParaRPr b="0" i="0" sz="1700" u="none" cap="none" strike="noStrike">
                <a:solidFill>
                  <a:schemeClr val="lt1"/>
                </a:solidFill>
                <a:latin typeface="Century Gothic"/>
                <a:ea typeface="Century Gothic"/>
                <a:cs typeface="Century Gothic"/>
                <a:sym typeface="Century Gothic"/>
              </a:endParaRPr>
            </a:p>
          </p:txBody>
        </p:sp>
        <p:cxnSp>
          <p:nvCxnSpPr>
            <p:cNvPr id="308" name="Google Shape;308;p9"/>
            <p:cNvCxnSpPr/>
            <p:nvPr/>
          </p:nvCxnSpPr>
          <p:spPr>
            <a:xfrm>
              <a:off x="0" y="1663032"/>
              <a:ext cx="5905254" cy="0"/>
            </a:xfrm>
            <a:prstGeom prst="straightConnector1">
              <a:avLst/>
            </a:prstGeom>
            <a:solidFill>
              <a:srgbClr val="B01210"/>
            </a:solidFill>
            <a:ln cap="rnd" cmpd="sng" w="19050">
              <a:solidFill>
                <a:srgbClr val="B01210"/>
              </a:solidFill>
              <a:prstDash val="solid"/>
              <a:round/>
              <a:headEnd len="sm" w="sm" type="none"/>
              <a:tailEnd len="sm" w="sm" type="none"/>
            </a:ln>
          </p:spPr>
        </p:cxnSp>
        <p:sp>
          <p:nvSpPr>
            <p:cNvPr id="309" name="Google Shape;309;p9"/>
            <p:cNvSpPr/>
            <p:nvPr/>
          </p:nvSpPr>
          <p:spPr>
            <a:xfrm>
              <a:off x="0" y="1663032"/>
              <a:ext cx="5905254" cy="8312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txBox="1"/>
            <p:nvPr/>
          </p:nvSpPr>
          <p:spPr>
            <a:xfrm>
              <a:off x="0" y="1663032"/>
              <a:ext cx="5905254" cy="831262"/>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People with ASD often demonstrate restricted and repetitive interests or patterns of behaviour.</a:t>
              </a:r>
              <a:endParaRPr b="0" i="0" sz="1700" u="none" cap="none" strike="noStrike">
                <a:solidFill>
                  <a:schemeClr val="lt1"/>
                </a:solidFill>
                <a:latin typeface="Century Gothic"/>
                <a:ea typeface="Century Gothic"/>
                <a:cs typeface="Century Gothic"/>
                <a:sym typeface="Century Gothic"/>
              </a:endParaRPr>
            </a:p>
          </p:txBody>
        </p:sp>
        <p:cxnSp>
          <p:nvCxnSpPr>
            <p:cNvPr id="311" name="Google Shape;311;p9"/>
            <p:cNvCxnSpPr/>
            <p:nvPr/>
          </p:nvCxnSpPr>
          <p:spPr>
            <a:xfrm>
              <a:off x="0" y="2494295"/>
              <a:ext cx="5905254" cy="0"/>
            </a:xfrm>
            <a:prstGeom prst="straightConnector1">
              <a:avLst/>
            </a:prstGeom>
            <a:solidFill>
              <a:srgbClr val="B01210"/>
            </a:solidFill>
            <a:ln cap="rnd" cmpd="sng" w="19050">
              <a:solidFill>
                <a:srgbClr val="B01210"/>
              </a:solidFill>
              <a:prstDash val="solid"/>
              <a:round/>
              <a:headEnd len="sm" w="sm" type="none"/>
              <a:tailEnd len="sm" w="sm" type="none"/>
            </a:ln>
          </p:spPr>
        </p:cxnSp>
        <p:sp>
          <p:nvSpPr>
            <p:cNvPr id="312" name="Google Shape;312;p9"/>
            <p:cNvSpPr/>
            <p:nvPr/>
          </p:nvSpPr>
          <p:spPr>
            <a:xfrm>
              <a:off x="0" y="2494295"/>
              <a:ext cx="5905254" cy="8312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txBox="1"/>
            <p:nvPr/>
          </p:nvSpPr>
          <p:spPr>
            <a:xfrm>
              <a:off x="0" y="2494295"/>
              <a:ext cx="5905254" cy="831262"/>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ASD is found in people around the world, regardless of race and ethnicity, culture, or economic background.</a:t>
              </a:r>
              <a:endParaRPr b="0" i="0" sz="1700" u="none" cap="none" strike="noStrike">
                <a:solidFill>
                  <a:schemeClr val="lt1"/>
                </a:solidFill>
                <a:latin typeface="Century Gothic"/>
                <a:ea typeface="Century Gothic"/>
                <a:cs typeface="Century Gothic"/>
                <a:sym typeface="Century Gothic"/>
              </a:endParaRPr>
            </a:p>
          </p:txBody>
        </p:sp>
        <p:cxnSp>
          <p:nvCxnSpPr>
            <p:cNvPr id="314" name="Google Shape;314;p9"/>
            <p:cNvCxnSpPr/>
            <p:nvPr/>
          </p:nvCxnSpPr>
          <p:spPr>
            <a:xfrm>
              <a:off x="0" y="3325557"/>
              <a:ext cx="5905254" cy="0"/>
            </a:xfrm>
            <a:prstGeom prst="straightConnector1">
              <a:avLst/>
            </a:prstGeom>
            <a:solidFill>
              <a:srgbClr val="B01210"/>
            </a:solidFill>
            <a:ln cap="rnd" cmpd="sng" w="19050">
              <a:solidFill>
                <a:srgbClr val="B01210"/>
              </a:solidFill>
              <a:prstDash val="solid"/>
              <a:round/>
              <a:headEnd len="sm" w="sm" type="none"/>
              <a:tailEnd len="sm" w="sm" type="none"/>
            </a:ln>
          </p:spPr>
        </p:cxnSp>
        <p:sp>
          <p:nvSpPr>
            <p:cNvPr id="315" name="Google Shape;315;p9"/>
            <p:cNvSpPr/>
            <p:nvPr/>
          </p:nvSpPr>
          <p:spPr>
            <a:xfrm>
              <a:off x="0" y="3325557"/>
              <a:ext cx="5905254" cy="8312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txBox="1"/>
            <p:nvPr/>
          </p:nvSpPr>
          <p:spPr>
            <a:xfrm>
              <a:off x="0" y="3325557"/>
              <a:ext cx="5905254" cy="831262"/>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A study of 8-year-olds in 11 locations throughout the United States found a 4.3 to 1 boy-to-girl ratio Trusted Source in.</a:t>
              </a:r>
              <a:endParaRPr b="0" i="0" sz="17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0" name="Shape 320"/>
        <p:cNvGrpSpPr/>
        <p:nvPr/>
      </p:nvGrpSpPr>
      <p:grpSpPr>
        <a:xfrm>
          <a:off x="0" y="0"/>
          <a:ext cx="0" cy="0"/>
          <a:chOff x="0" y="0"/>
          <a:chExt cx="0" cy="0"/>
        </a:xfrm>
      </p:grpSpPr>
      <p:sp>
        <p:nvSpPr>
          <p:cNvPr id="321" name="Google Shape;321;p10"/>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CAUSES OF AUTISM</a:t>
            </a:r>
            <a:endParaRPr/>
          </a:p>
        </p:txBody>
      </p:sp>
      <p:grpSp>
        <p:nvGrpSpPr>
          <p:cNvPr id="322" name="Google Shape;322;p10"/>
          <p:cNvGrpSpPr/>
          <p:nvPr/>
        </p:nvGrpSpPr>
        <p:grpSpPr>
          <a:xfrm>
            <a:off x="967562" y="2497472"/>
            <a:ext cx="10249787" cy="3263167"/>
            <a:chOff x="0" y="398"/>
            <a:chExt cx="10249787" cy="3263167"/>
          </a:xfrm>
        </p:grpSpPr>
        <p:cxnSp>
          <p:nvCxnSpPr>
            <p:cNvPr id="323" name="Google Shape;323;p10"/>
            <p:cNvCxnSpPr/>
            <p:nvPr/>
          </p:nvCxnSpPr>
          <p:spPr>
            <a:xfrm>
              <a:off x="0" y="398"/>
              <a:ext cx="10249787" cy="0"/>
            </a:xfrm>
            <a:prstGeom prst="straightConnector1">
              <a:avLst/>
            </a:prstGeom>
            <a:solidFill>
              <a:srgbClr val="E96210"/>
            </a:solidFill>
            <a:ln cap="rnd" cmpd="sng" w="19050">
              <a:solidFill>
                <a:srgbClr val="E96210"/>
              </a:solidFill>
              <a:prstDash val="solid"/>
              <a:round/>
              <a:headEnd len="sm" w="sm" type="none"/>
              <a:tailEnd len="sm" w="sm" type="none"/>
            </a:ln>
          </p:spPr>
        </p:cxnSp>
        <p:sp>
          <p:nvSpPr>
            <p:cNvPr id="324" name="Google Shape;324;p10"/>
            <p:cNvSpPr/>
            <p:nvPr/>
          </p:nvSpPr>
          <p:spPr>
            <a:xfrm>
              <a:off x="0" y="398"/>
              <a:ext cx="10249787" cy="3625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0"/>
            <p:cNvSpPr txBox="1"/>
            <p:nvPr/>
          </p:nvSpPr>
          <p:spPr>
            <a:xfrm>
              <a:off x="0" y="398"/>
              <a:ext cx="10249787" cy="362574"/>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having an immediate family member who’s autistic.</a:t>
              </a:r>
              <a:endParaRPr b="0" i="0" sz="1700" u="none" cap="none" strike="noStrike">
                <a:solidFill>
                  <a:schemeClr val="lt1"/>
                </a:solidFill>
                <a:latin typeface="Century Gothic"/>
                <a:ea typeface="Century Gothic"/>
                <a:cs typeface="Century Gothic"/>
                <a:sym typeface="Century Gothic"/>
              </a:endParaRPr>
            </a:p>
          </p:txBody>
        </p:sp>
        <p:cxnSp>
          <p:nvCxnSpPr>
            <p:cNvPr id="326" name="Google Shape;326;p10"/>
            <p:cNvCxnSpPr/>
            <p:nvPr/>
          </p:nvCxnSpPr>
          <p:spPr>
            <a:xfrm>
              <a:off x="0" y="362972"/>
              <a:ext cx="10249787" cy="0"/>
            </a:xfrm>
            <a:prstGeom prst="straightConnector1">
              <a:avLst/>
            </a:prstGeom>
            <a:solidFill>
              <a:srgbClr val="E6B726"/>
            </a:solidFill>
            <a:ln cap="rnd" cmpd="sng" w="19050">
              <a:solidFill>
                <a:srgbClr val="E6B726"/>
              </a:solidFill>
              <a:prstDash val="solid"/>
              <a:round/>
              <a:headEnd len="sm" w="sm" type="none"/>
              <a:tailEnd len="sm" w="sm" type="none"/>
            </a:ln>
          </p:spPr>
        </p:cxnSp>
        <p:sp>
          <p:nvSpPr>
            <p:cNvPr id="327" name="Google Shape;327;p10"/>
            <p:cNvSpPr/>
            <p:nvPr/>
          </p:nvSpPr>
          <p:spPr>
            <a:xfrm>
              <a:off x="0" y="362972"/>
              <a:ext cx="10249787" cy="3625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0"/>
            <p:cNvSpPr txBox="1"/>
            <p:nvPr/>
          </p:nvSpPr>
          <p:spPr>
            <a:xfrm>
              <a:off x="0" y="362972"/>
              <a:ext cx="10249787" cy="362574"/>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genetic mutations.</a:t>
              </a:r>
              <a:endParaRPr b="0" i="0" sz="1700" u="none" cap="none" strike="noStrike">
                <a:solidFill>
                  <a:schemeClr val="lt1"/>
                </a:solidFill>
                <a:latin typeface="Century Gothic"/>
                <a:ea typeface="Century Gothic"/>
                <a:cs typeface="Century Gothic"/>
                <a:sym typeface="Century Gothic"/>
              </a:endParaRPr>
            </a:p>
          </p:txBody>
        </p:sp>
        <p:cxnSp>
          <p:nvCxnSpPr>
            <p:cNvPr id="329" name="Google Shape;329;p10"/>
            <p:cNvCxnSpPr/>
            <p:nvPr/>
          </p:nvCxnSpPr>
          <p:spPr>
            <a:xfrm>
              <a:off x="0" y="725546"/>
              <a:ext cx="10249787" cy="0"/>
            </a:xfrm>
            <a:prstGeom prst="straightConnector1">
              <a:avLst/>
            </a:prstGeom>
            <a:solidFill>
              <a:srgbClr val="6AAA8E"/>
            </a:solidFill>
            <a:ln cap="rnd" cmpd="sng" w="19050">
              <a:solidFill>
                <a:srgbClr val="6AAA8E"/>
              </a:solidFill>
              <a:prstDash val="solid"/>
              <a:round/>
              <a:headEnd len="sm" w="sm" type="none"/>
              <a:tailEnd len="sm" w="sm" type="none"/>
            </a:ln>
          </p:spPr>
        </p:cxnSp>
        <p:sp>
          <p:nvSpPr>
            <p:cNvPr id="330" name="Google Shape;330;p10"/>
            <p:cNvSpPr/>
            <p:nvPr/>
          </p:nvSpPr>
          <p:spPr>
            <a:xfrm>
              <a:off x="0" y="725546"/>
              <a:ext cx="10249787" cy="3625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
            <p:cNvSpPr txBox="1"/>
            <p:nvPr/>
          </p:nvSpPr>
          <p:spPr>
            <a:xfrm>
              <a:off x="0" y="725546"/>
              <a:ext cx="10249787" cy="362574"/>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fragile X syndrome and other genetic disorders.</a:t>
              </a:r>
              <a:endParaRPr b="0" i="0" sz="1700" u="none" cap="none" strike="noStrike">
                <a:solidFill>
                  <a:schemeClr val="lt1"/>
                </a:solidFill>
                <a:latin typeface="Century Gothic"/>
                <a:ea typeface="Century Gothic"/>
                <a:cs typeface="Century Gothic"/>
                <a:sym typeface="Century Gothic"/>
              </a:endParaRPr>
            </a:p>
          </p:txBody>
        </p:sp>
        <p:cxnSp>
          <p:nvCxnSpPr>
            <p:cNvPr id="332" name="Google Shape;332;p10"/>
            <p:cNvCxnSpPr/>
            <p:nvPr/>
          </p:nvCxnSpPr>
          <p:spPr>
            <a:xfrm>
              <a:off x="0" y="1088120"/>
              <a:ext cx="10249787" cy="0"/>
            </a:xfrm>
            <a:prstGeom prst="straightConnector1">
              <a:avLst/>
            </a:prstGeom>
            <a:solidFill>
              <a:srgbClr val="52849A"/>
            </a:solidFill>
            <a:ln cap="rnd" cmpd="sng" w="19050">
              <a:solidFill>
                <a:srgbClr val="52849A"/>
              </a:solidFill>
              <a:prstDash val="solid"/>
              <a:round/>
              <a:headEnd len="sm" w="sm" type="none"/>
              <a:tailEnd len="sm" w="sm" type="none"/>
            </a:ln>
          </p:spPr>
        </p:cxnSp>
        <p:sp>
          <p:nvSpPr>
            <p:cNvPr id="333" name="Google Shape;333;p10"/>
            <p:cNvSpPr/>
            <p:nvPr/>
          </p:nvSpPr>
          <p:spPr>
            <a:xfrm>
              <a:off x="0" y="1088120"/>
              <a:ext cx="10249787" cy="3625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
            <p:cNvSpPr txBox="1"/>
            <p:nvPr/>
          </p:nvSpPr>
          <p:spPr>
            <a:xfrm>
              <a:off x="0" y="1088120"/>
              <a:ext cx="10249787" cy="362574"/>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being born to older parents.</a:t>
              </a:r>
              <a:endParaRPr b="0" i="0" sz="1700" u="none" cap="none" strike="noStrike">
                <a:solidFill>
                  <a:schemeClr val="lt1"/>
                </a:solidFill>
                <a:latin typeface="Century Gothic"/>
                <a:ea typeface="Century Gothic"/>
                <a:cs typeface="Century Gothic"/>
                <a:sym typeface="Century Gothic"/>
              </a:endParaRPr>
            </a:p>
          </p:txBody>
        </p:sp>
        <p:cxnSp>
          <p:nvCxnSpPr>
            <p:cNvPr id="335" name="Google Shape;335;p10"/>
            <p:cNvCxnSpPr/>
            <p:nvPr/>
          </p:nvCxnSpPr>
          <p:spPr>
            <a:xfrm>
              <a:off x="0" y="1450694"/>
              <a:ext cx="10249787" cy="0"/>
            </a:xfrm>
            <a:prstGeom prst="straightConnector1">
              <a:avLst/>
            </a:prstGeom>
            <a:solidFill>
              <a:schemeClr val="accent6"/>
            </a:solidFill>
            <a:ln cap="rnd" cmpd="sng" w="19050">
              <a:solidFill>
                <a:schemeClr val="accent6"/>
              </a:solidFill>
              <a:prstDash val="solid"/>
              <a:round/>
              <a:headEnd len="sm" w="sm" type="none"/>
              <a:tailEnd len="sm" w="sm" type="none"/>
            </a:ln>
          </p:spPr>
        </p:cxnSp>
        <p:sp>
          <p:nvSpPr>
            <p:cNvPr id="336" name="Google Shape;336;p10"/>
            <p:cNvSpPr/>
            <p:nvPr/>
          </p:nvSpPr>
          <p:spPr>
            <a:xfrm>
              <a:off x="0" y="1450694"/>
              <a:ext cx="10249787" cy="3625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0"/>
            <p:cNvSpPr txBox="1"/>
            <p:nvPr/>
          </p:nvSpPr>
          <p:spPr>
            <a:xfrm>
              <a:off x="0" y="1450694"/>
              <a:ext cx="10249787" cy="362574"/>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low birth weight.</a:t>
              </a:r>
              <a:endParaRPr b="0" i="0" sz="1700" u="none" cap="none" strike="noStrike">
                <a:solidFill>
                  <a:schemeClr val="lt1"/>
                </a:solidFill>
                <a:latin typeface="Century Gothic"/>
                <a:ea typeface="Century Gothic"/>
                <a:cs typeface="Century Gothic"/>
                <a:sym typeface="Century Gothic"/>
              </a:endParaRPr>
            </a:p>
          </p:txBody>
        </p:sp>
        <p:cxnSp>
          <p:nvCxnSpPr>
            <p:cNvPr id="338" name="Google Shape;338;p10"/>
            <p:cNvCxnSpPr/>
            <p:nvPr/>
          </p:nvCxnSpPr>
          <p:spPr>
            <a:xfrm>
              <a:off x="0" y="1813269"/>
              <a:ext cx="10249787" cy="0"/>
            </a:xfrm>
            <a:prstGeom prst="straightConnector1">
              <a:avLst/>
            </a:prstGeom>
            <a:solidFill>
              <a:srgbClr val="E96210"/>
            </a:solidFill>
            <a:ln cap="rnd" cmpd="sng" w="19050">
              <a:solidFill>
                <a:srgbClr val="E96210"/>
              </a:solidFill>
              <a:prstDash val="solid"/>
              <a:round/>
              <a:headEnd len="sm" w="sm" type="none"/>
              <a:tailEnd len="sm" w="sm" type="none"/>
            </a:ln>
          </p:spPr>
        </p:cxnSp>
        <p:sp>
          <p:nvSpPr>
            <p:cNvPr id="339" name="Google Shape;339;p10"/>
            <p:cNvSpPr/>
            <p:nvPr/>
          </p:nvSpPr>
          <p:spPr>
            <a:xfrm>
              <a:off x="0" y="1813269"/>
              <a:ext cx="10249787" cy="3625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0"/>
            <p:cNvSpPr txBox="1"/>
            <p:nvPr/>
          </p:nvSpPr>
          <p:spPr>
            <a:xfrm>
              <a:off x="0" y="1813269"/>
              <a:ext cx="10249787" cy="362574"/>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metabolic imbalances.</a:t>
              </a:r>
              <a:endParaRPr b="0" i="0" sz="1700" u="none" cap="none" strike="noStrike">
                <a:solidFill>
                  <a:schemeClr val="lt1"/>
                </a:solidFill>
                <a:latin typeface="Century Gothic"/>
                <a:ea typeface="Century Gothic"/>
                <a:cs typeface="Century Gothic"/>
                <a:sym typeface="Century Gothic"/>
              </a:endParaRPr>
            </a:p>
          </p:txBody>
        </p:sp>
        <p:cxnSp>
          <p:nvCxnSpPr>
            <p:cNvPr id="341" name="Google Shape;341;p10"/>
            <p:cNvCxnSpPr/>
            <p:nvPr/>
          </p:nvCxnSpPr>
          <p:spPr>
            <a:xfrm>
              <a:off x="0" y="2175843"/>
              <a:ext cx="10249787" cy="0"/>
            </a:xfrm>
            <a:prstGeom prst="straightConnector1">
              <a:avLst/>
            </a:prstGeom>
            <a:solidFill>
              <a:srgbClr val="E6B726"/>
            </a:solidFill>
            <a:ln cap="rnd" cmpd="sng" w="19050">
              <a:solidFill>
                <a:srgbClr val="E6B726"/>
              </a:solidFill>
              <a:prstDash val="solid"/>
              <a:round/>
              <a:headEnd len="sm" w="sm" type="none"/>
              <a:tailEnd len="sm" w="sm" type="none"/>
            </a:ln>
          </p:spPr>
        </p:cxnSp>
        <p:sp>
          <p:nvSpPr>
            <p:cNvPr id="342" name="Google Shape;342;p10"/>
            <p:cNvSpPr/>
            <p:nvPr/>
          </p:nvSpPr>
          <p:spPr>
            <a:xfrm>
              <a:off x="0" y="2175843"/>
              <a:ext cx="10249787" cy="3625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0"/>
            <p:cNvSpPr txBox="1"/>
            <p:nvPr/>
          </p:nvSpPr>
          <p:spPr>
            <a:xfrm>
              <a:off x="0" y="2175843"/>
              <a:ext cx="10249787" cy="362574"/>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exposure to heavy metals and environmental toxins.</a:t>
              </a:r>
              <a:endParaRPr b="0" i="0" sz="1700" u="none" cap="none" strike="noStrike">
                <a:solidFill>
                  <a:schemeClr val="lt1"/>
                </a:solidFill>
                <a:latin typeface="Century Gothic"/>
                <a:ea typeface="Century Gothic"/>
                <a:cs typeface="Century Gothic"/>
                <a:sym typeface="Century Gothic"/>
              </a:endParaRPr>
            </a:p>
          </p:txBody>
        </p:sp>
        <p:cxnSp>
          <p:nvCxnSpPr>
            <p:cNvPr id="344" name="Google Shape;344;p10"/>
            <p:cNvCxnSpPr/>
            <p:nvPr/>
          </p:nvCxnSpPr>
          <p:spPr>
            <a:xfrm>
              <a:off x="0" y="2538417"/>
              <a:ext cx="10249787" cy="0"/>
            </a:xfrm>
            <a:prstGeom prst="straightConnector1">
              <a:avLst/>
            </a:prstGeom>
            <a:solidFill>
              <a:srgbClr val="6AAA8E"/>
            </a:solidFill>
            <a:ln cap="rnd" cmpd="sng" w="19050">
              <a:solidFill>
                <a:srgbClr val="6AAA8E"/>
              </a:solidFill>
              <a:prstDash val="solid"/>
              <a:round/>
              <a:headEnd len="sm" w="sm" type="none"/>
              <a:tailEnd len="sm" w="sm" type="none"/>
            </a:ln>
          </p:spPr>
        </p:cxnSp>
        <p:sp>
          <p:nvSpPr>
            <p:cNvPr id="345" name="Google Shape;345;p10"/>
            <p:cNvSpPr/>
            <p:nvPr/>
          </p:nvSpPr>
          <p:spPr>
            <a:xfrm>
              <a:off x="0" y="2538417"/>
              <a:ext cx="10249787" cy="3625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0"/>
            <p:cNvSpPr txBox="1"/>
            <p:nvPr/>
          </p:nvSpPr>
          <p:spPr>
            <a:xfrm>
              <a:off x="0" y="2538417"/>
              <a:ext cx="10249787" cy="362574"/>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a history of viral infections.</a:t>
              </a:r>
              <a:endParaRPr b="0" i="0" sz="1700" u="none" cap="none" strike="noStrike">
                <a:solidFill>
                  <a:schemeClr val="lt1"/>
                </a:solidFill>
                <a:latin typeface="Century Gothic"/>
                <a:ea typeface="Century Gothic"/>
                <a:cs typeface="Century Gothic"/>
                <a:sym typeface="Century Gothic"/>
              </a:endParaRPr>
            </a:p>
          </p:txBody>
        </p:sp>
        <p:cxnSp>
          <p:nvCxnSpPr>
            <p:cNvPr id="347" name="Google Shape;347;p10"/>
            <p:cNvCxnSpPr/>
            <p:nvPr/>
          </p:nvCxnSpPr>
          <p:spPr>
            <a:xfrm>
              <a:off x="0" y="2900991"/>
              <a:ext cx="10249787" cy="0"/>
            </a:xfrm>
            <a:prstGeom prst="straightConnector1">
              <a:avLst/>
            </a:prstGeom>
            <a:solidFill>
              <a:srgbClr val="52849A"/>
            </a:solidFill>
            <a:ln cap="rnd" cmpd="sng" w="19050">
              <a:solidFill>
                <a:srgbClr val="52849A"/>
              </a:solidFill>
              <a:prstDash val="solid"/>
              <a:round/>
              <a:headEnd len="sm" w="sm" type="none"/>
              <a:tailEnd len="sm" w="sm" type="none"/>
            </a:ln>
          </p:spPr>
        </p:cxnSp>
        <p:sp>
          <p:nvSpPr>
            <p:cNvPr id="348" name="Google Shape;348;p10"/>
            <p:cNvSpPr/>
            <p:nvPr/>
          </p:nvSpPr>
          <p:spPr>
            <a:xfrm>
              <a:off x="0" y="2900991"/>
              <a:ext cx="10249787" cy="3625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0"/>
            <p:cNvSpPr txBox="1"/>
            <p:nvPr/>
          </p:nvSpPr>
          <p:spPr>
            <a:xfrm>
              <a:off x="0" y="2900991"/>
              <a:ext cx="10249787" cy="362574"/>
            </a:xfrm>
            <a:prstGeom prst="rect">
              <a:avLst/>
            </a:prstGeom>
            <a:noFill/>
            <a:ln>
              <a:noFill/>
            </a:ln>
          </p:spPr>
          <p:txBody>
            <a:bodyPr anchorCtr="0" anchor="t"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fatal exposure to the medications valproic acid or thalidomide.</a:t>
              </a:r>
              <a:endParaRPr b="0" i="0" sz="17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53" name="Shape 353"/>
        <p:cNvGrpSpPr/>
        <p:nvPr/>
      </p:nvGrpSpPr>
      <p:grpSpPr>
        <a:xfrm>
          <a:off x="0" y="0"/>
          <a:ext cx="0" cy="0"/>
          <a:chOff x="0" y="0"/>
          <a:chExt cx="0" cy="0"/>
        </a:xfrm>
      </p:grpSpPr>
      <p:sp>
        <p:nvSpPr>
          <p:cNvPr id="354" name="Google Shape;354;p11"/>
          <p:cNvSpPr txBox="1"/>
          <p:nvPr>
            <p:ph type="title"/>
          </p:nvPr>
        </p:nvSpPr>
        <p:spPr>
          <a:xfrm>
            <a:off x="565150" y="770890"/>
            <a:ext cx="3608387" cy="3395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TREATMENT</a:t>
            </a:r>
            <a:endParaRPr/>
          </a:p>
        </p:txBody>
      </p:sp>
      <p:grpSp>
        <p:nvGrpSpPr>
          <p:cNvPr id="355" name="Google Shape;355;p11"/>
          <p:cNvGrpSpPr/>
          <p:nvPr/>
        </p:nvGrpSpPr>
        <p:grpSpPr>
          <a:xfrm>
            <a:off x="5635256" y="1350843"/>
            <a:ext cx="5905254" cy="4156312"/>
            <a:chOff x="0" y="507"/>
            <a:chExt cx="5905254" cy="4156312"/>
          </a:xfrm>
        </p:grpSpPr>
        <p:cxnSp>
          <p:nvCxnSpPr>
            <p:cNvPr id="356" name="Google Shape;356;p11"/>
            <p:cNvCxnSpPr/>
            <p:nvPr/>
          </p:nvCxnSpPr>
          <p:spPr>
            <a:xfrm>
              <a:off x="0" y="507"/>
              <a:ext cx="5905254" cy="0"/>
            </a:xfrm>
            <a:prstGeom prst="straightConnector1">
              <a:avLst/>
            </a:prstGeom>
            <a:solidFill>
              <a:srgbClr val="E96210"/>
            </a:solidFill>
            <a:ln cap="rnd" cmpd="sng" w="19050">
              <a:solidFill>
                <a:srgbClr val="E96210"/>
              </a:solidFill>
              <a:prstDash val="solid"/>
              <a:round/>
              <a:headEnd len="sm" w="sm" type="none"/>
              <a:tailEnd len="sm" w="sm" type="none"/>
            </a:ln>
          </p:spPr>
        </p:cxnSp>
        <p:sp>
          <p:nvSpPr>
            <p:cNvPr id="357" name="Google Shape;357;p11"/>
            <p:cNvSpPr/>
            <p:nvPr/>
          </p:nvSpPr>
          <p:spPr>
            <a:xfrm>
              <a:off x="0" y="507"/>
              <a:ext cx="5905254" cy="8312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txBox="1"/>
            <p:nvPr/>
          </p:nvSpPr>
          <p:spPr>
            <a:xfrm>
              <a:off x="0" y="507"/>
              <a:ext cx="5905254" cy="831262"/>
            </a:xfrm>
            <a:prstGeom prst="rect">
              <a:avLst/>
            </a:prstGeom>
            <a:noFill/>
            <a:ln>
              <a:noFill/>
            </a:ln>
          </p:spPr>
          <p:txBody>
            <a:bodyPr anchorCtr="0" anchor="t" bIns="148575" lIns="148575" spcFirstLastPara="1" rIns="148575" wrap="square" tIns="148575">
              <a:noAutofit/>
            </a:bodyPr>
            <a:lstStyle/>
            <a:p>
              <a:pPr indent="0" lvl="0" marL="0" marR="0" rtl="0" algn="l">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behavioural therapy.</a:t>
              </a:r>
              <a:endParaRPr b="0" i="0" sz="3900" u="none" cap="none" strike="noStrike">
                <a:solidFill>
                  <a:schemeClr val="lt1"/>
                </a:solidFill>
                <a:latin typeface="Century Gothic"/>
                <a:ea typeface="Century Gothic"/>
                <a:cs typeface="Century Gothic"/>
                <a:sym typeface="Century Gothic"/>
              </a:endParaRPr>
            </a:p>
          </p:txBody>
        </p:sp>
        <p:cxnSp>
          <p:nvCxnSpPr>
            <p:cNvPr id="359" name="Google Shape;359;p11"/>
            <p:cNvCxnSpPr/>
            <p:nvPr/>
          </p:nvCxnSpPr>
          <p:spPr>
            <a:xfrm>
              <a:off x="0" y="831770"/>
              <a:ext cx="5905254" cy="0"/>
            </a:xfrm>
            <a:prstGeom prst="straightConnector1">
              <a:avLst/>
            </a:prstGeom>
            <a:solidFill>
              <a:srgbClr val="EB7913"/>
            </a:solidFill>
            <a:ln cap="rnd" cmpd="sng" w="19050">
              <a:solidFill>
                <a:srgbClr val="EB7913"/>
              </a:solidFill>
              <a:prstDash val="solid"/>
              <a:round/>
              <a:headEnd len="sm" w="sm" type="none"/>
              <a:tailEnd len="sm" w="sm" type="none"/>
            </a:ln>
          </p:spPr>
        </p:cxnSp>
        <p:sp>
          <p:nvSpPr>
            <p:cNvPr id="360" name="Google Shape;360;p11"/>
            <p:cNvSpPr/>
            <p:nvPr/>
          </p:nvSpPr>
          <p:spPr>
            <a:xfrm>
              <a:off x="0" y="831770"/>
              <a:ext cx="5905254" cy="8312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txBox="1"/>
            <p:nvPr/>
          </p:nvSpPr>
          <p:spPr>
            <a:xfrm>
              <a:off x="0" y="831770"/>
              <a:ext cx="5905254" cy="831262"/>
            </a:xfrm>
            <a:prstGeom prst="rect">
              <a:avLst/>
            </a:prstGeom>
            <a:noFill/>
            <a:ln>
              <a:noFill/>
            </a:ln>
          </p:spPr>
          <p:txBody>
            <a:bodyPr anchorCtr="0" anchor="t" bIns="148575" lIns="148575" spcFirstLastPara="1" rIns="148575" wrap="square" tIns="148575">
              <a:noAutofit/>
            </a:bodyPr>
            <a:lstStyle/>
            <a:p>
              <a:pPr indent="0" lvl="0" marL="0" marR="0" rtl="0" algn="l">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play therapy.</a:t>
              </a:r>
              <a:endParaRPr b="0" i="0" sz="3900" u="none" cap="none" strike="noStrike">
                <a:solidFill>
                  <a:schemeClr val="lt1"/>
                </a:solidFill>
                <a:latin typeface="Century Gothic"/>
                <a:ea typeface="Century Gothic"/>
                <a:cs typeface="Century Gothic"/>
                <a:sym typeface="Century Gothic"/>
              </a:endParaRPr>
            </a:p>
          </p:txBody>
        </p:sp>
        <p:cxnSp>
          <p:nvCxnSpPr>
            <p:cNvPr id="362" name="Google Shape;362;p11"/>
            <p:cNvCxnSpPr/>
            <p:nvPr/>
          </p:nvCxnSpPr>
          <p:spPr>
            <a:xfrm>
              <a:off x="0" y="1663032"/>
              <a:ext cx="5905254" cy="0"/>
            </a:xfrm>
            <a:prstGeom prst="straightConnector1">
              <a:avLst/>
            </a:prstGeom>
            <a:solidFill>
              <a:srgbClr val="E98E19"/>
            </a:solidFill>
            <a:ln cap="rnd" cmpd="sng" w="19050">
              <a:solidFill>
                <a:srgbClr val="E98E19"/>
              </a:solidFill>
              <a:prstDash val="solid"/>
              <a:round/>
              <a:headEnd len="sm" w="sm" type="none"/>
              <a:tailEnd len="sm" w="sm" type="none"/>
            </a:ln>
          </p:spPr>
        </p:cxnSp>
        <p:sp>
          <p:nvSpPr>
            <p:cNvPr id="363" name="Google Shape;363;p11"/>
            <p:cNvSpPr/>
            <p:nvPr/>
          </p:nvSpPr>
          <p:spPr>
            <a:xfrm>
              <a:off x="0" y="1663032"/>
              <a:ext cx="5905254" cy="8312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txBox="1"/>
            <p:nvPr/>
          </p:nvSpPr>
          <p:spPr>
            <a:xfrm>
              <a:off x="0" y="1663032"/>
              <a:ext cx="5905254" cy="831262"/>
            </a:xfrm>
            <a:prstGeom prst="rect">
              <a:avLst/>
            </a:prstGeom>
            <a:noFill/>
            <a:ln>
              <a:noFill/>
            </a:ln>
          </p:spPr>
          <p:txBody>
            <a:bodyPr anchorCtr="0" anchor="t" bIns="148575" lIns="148575" spcFirstLastPara="1" rIns="148575" wrap="square" tIns="148575">
              <a:noAutofit/>
            </a:bodyPr>
            <a:lstStyle/>
            <a:p>
              <a:pPr indent="0" lvl="0" marL="0" marR="0" rtl="0" algn="l">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occupational therapy.</a:t>
              </a:r>
              <a:endParaRPr b="0" i="0" sz="3900" u="none" cap="none" strike="noStrike">
                <a:solidFill>
                  <a:schemeClr val="lt1"/>
                </a:solidFill>
                <a:latin typeface="Century Gothic"/>
                <a:ea typeface="Century Gothic"/>
                <a:cs typeface="Century Gothic"/>
                <a:sym typeface="Century Gothic"/>
              </a:endParaRPr>
            </a:p>
          </p:txBody>
        </p:sp>
        <p:cxnSp>
          <p:nvCxnSpPr>
            <p:cNvPr id="365" name="Google Shape;365;p11"/>
            <p:cNvCxnSpPr/>
            <p:nvPr/>
          </p:nvCxnSpPr>
          <p:spPr>
            <a:xfrm>
              <a:off x="0" y="2494295"/>
              <a:ext cx="5905254" cy="0"/>
            </a:xfrm>
            <a:prstGeom prst="straightConnector1">
              <a:avLst/>
            </a:prstGeom>
            <a:solidFill>
              <a:srgbClr val="E8A31F"/>
            </a:solidFill>
            <a:ln cap="rnd" cmpd="sng" w="19050">
              <a:solidFill>
                <a:srgbClr val="E8A31F"/>
              </a:solidFill>
              <a:prstDash val="solid"/>
              <a:round/>
              <a:headEnd len="sm" w="sm" type="none"/>
              <a:tailEnd len="sm" w="sm" type="none"/>
            </a:ln>
          </p:spPr>
        </p:cxnSp>
        <p:sp>
          <p:nvSpPr>
            <p:cNvPr id="366" name="Google Shape;366;p11"/>
            <p:cNvSpPr/>
            <p:nvPr/>
          </p:nvSpPr>
          <p:spPr>
            <a:xfrm>
              <a:off x="0" y="2494295"/>
              <a:ext cx="5905254" cy="8312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txBox="1"/>
            <p:nvPr/>
          </p:nvSpPr>
          <p:spPr>
            <a:xfrm>
              <a:off x="0" y="2494295"/>
              <a:ext cx="5905254" cy="831262"/>
            </a:xfrm>
            <a:prstGeom prst="rect">
              <a:avLst/>
            </a:prstGeom>
            <a:noFill/>
            <a:ln>
              <a:noFill/>
            </a:ln>
          </p:spPr>
          <p:txBody>
            <a:bodyPr anchorCtr="0" anchor="t" bIns="148575" lIns="148575" spcFirstLastPara="1" rIns="148575" wrap="square" tIns="148575">
              <a:noAutofit/>
            </a:bodyPr>
            <a:lstStyle/>
            <a:p>
              <a:pPr indent="0" lvl="0" marL="0" marR="0" rtl="0" algn="l">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physical therapy.</a:t>
              </a:r>
              <a:endParaRPr b="0" i="0" sz="3900" u="none" cap="none" strike="noStrike">
                <a:solidFill>
                  <a:schemeClr val="lt1"/>
                </a:solidFill>
                <a:latin typeface="Century Gothic"/>
                <a:ea typeface="Century Gothic"/>
                <a:cs typeface="Century Gothic"/>
                <a:sym typeface="Century Gothic"/>
              </a:endParaRPr>
            </a:p>
          </p:txBody>
        </p:sp>
        <p:cxnSp>
          <p:nvCxnSpPr>
            <p:cNvPr id="368" name="Google Shape;368;p11"/>
            <p:cNvCxnSpPr/>
            <p:nvPr/>
          </p:nvCxnSpPr>
          <p:spPr>
            <a:xfrm>
              <a:off x="0" y="3325557"/>
              <a:ext cx="5905254" cy="0"/>
            </a:xfrm>
            <a:prstGeom prst="straightConnector1">
              <a:avLst/>
            </a:prstGeom>
            <a:solidFill>
              <a:srgbClr val="E6B626"/>
            </a:solidFill>
            <a:ln cap="rnd" cmpd="sng" w="19050">
              <a:solidFill>
                <a:srgbClr val="E6B626"/>
              </a:solidFill>
              <a:prstDash val="solid"/>
              <a:round/>
              <a:headEnd len="sm" w="sm" type="none"/>
              <a:tailEnd len="sm" w="sm" type="none"/>
            </a:ln>
          </p:spPr>
        </p:cxnSp>
        <p:sp>
          <p:nvSpPr>
            <p:cNvPr id="369" name="Google Shape;369;p11"/>
            <p:cNvSpPr/>
            <p:nvPr/>
          </p:nvSpPr>
          <p:spPr>
            <a:xfrm>
              <a:off x="0" y="3325557"/>
              <a:ext cx="5905254" cy="83126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
            <p:cNvSpPr txBox="1"/>
            <p:nvPr/>
          </p:nvSpPr>
          <p:spPr>
            <a:xfrm>
              <a:off x="0" y="3325557"/>
              <a:ext cx="5905254" cy="831262"/>
            </a:xfrm>
            <a:prstGeom prst="rect">
              <a:avLst/>
            </a:prstGeom>
            <a:noFill/>
            <a:ln>
              <a:noFill/>
            </a:ln>
          </p:spPr>
          <p:txBody>
            <a:bodyPr anchorCtr="0" anchor="t" bIns="148575" lIns="148575" spcFirstLastPara="1" rIns="148575" wrap="square" tIns="148575">
              <a:noAutofit/>
            </a:bodyPr>
            <a:lstStyle/>
            <a:p>
              <a:pPr indent="0" lvl="0" marL="0" marR="0" rtl="0" algn="l">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speech therapy.</a:t>
              </a:r>
              <a:endParaRPr b="0" i="0" sz="39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4" name="Shape 374"/>
        <p:cNvGrpSpPr/>
        <p:nvPr/>
      </p:nvGrpSpPr>
      <p:grpSpPr>
        <a:xfrm>
          <a:off x="0" y="0"/>
          <a:ext cx="0" cy="0"/>
          <a:chOff x="0" y="0"/>
          <a:chExt cx="0" cy="0"/>
        </a:xfrm>
      </p:grpSpPr>
      <p:sp>
        <p:nvSpPr>
          <p:cNvPr id="375" name="Google Shape;375;p12"/>
          <p:cNvSpPr txBox="1"/>
          <p:nvPr>
            <p:ph type="title"/>
          </p:nvPr>
        </p:nvSpPr>
        <p:spPr>
          <a:xfrm>
            <a:off x="565150" y="770890"/>
            <a:ext cx="5066001" cy="126898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TREATMENT</a:t>
            </a:r>
            <a:endParaRPr/>
          </a:p>
        </p:txBody>
      </p:sp>
      <p:sp>
        <p:nvSpPr>
          <p:cNvPr id="376" name="Google Shape;376;p12"/>
          <p:cNvSpPr txBox="1"/>
          <p:nvPr>
            <p:ph idx="1" type="body"/>
          </p:nvPr>
        </p:nvSpPr>
        <p:spPr>
          <a:xfrm>
            <a:off x="565150" y="2160016"/>
            <a:ext cx="5066001" cy="360121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Massages, weighted clothing and blankets and meditation techniques, may also help some autistic people manage symptoms.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0" name="Shape 380"/>
        <p:cNvGrpSpPr/>
        <p:nvPr/>
      </p:nvGrpSpPr>
      <p:grpSpPr>
        <a:xfrm>
          <a:off x="0" y="0"/>
          <a:ext cx="0" cy="0"/>
          <a:chOff x="0" y="0"/>
          <a:chExt cx="0" cy="0"/>
        </a:xfrm>
      </p:grpSpPr>
      <p:sp>
        <p:nvSpPr>
          <p:cNvPr id="381" name="Google Shape;381;p13"/>
          <p:cNvSpPr txBox="1"/>
          <p:nvPr>
            <p:ph type="title"/>
          </p:nvPr>
        </p:nvSpPr>
        <p:spPr>
          <a:xfrm>
            <a:off x="565151" y="770889"/>
            <a:ext cx="4133560"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AWARENESS</a:t>
            </a:r>
            <a:endParaRPr/>
          </a:p>
        </p:txBody>
      </p:sp>
      <p:grpSp>
        <p:nvGrpSpPr>
          <p:cNvPr id="382" name="Google Shape;382;p13"/>
          <p:cNvGrpSpPr/>
          <p:nvPr/>
        </p:nvGrpSpPr>
        <p:grpSpPr>
          <a:xfrm>
            <a:off x="5316278" y="1202187"/>
            <a:ext cx="6104761" cy="4677873"/>
            <a:chOff x="0" y="393148"/>
            <a:chExt cx="6104761" cy="4677873"/>
          </a:xfrm>
        </p:grpSpPr>
        <p:sp>
          <p:nvSpPr>
            <p:cNvPr id="383" name="Google Shape;383;p13"/>
            <p:cNvSpPr/>
            <p:nvPr/>
          </p:nvSpPr>
          <p:spPr>
            <a:xfrm>
              <a:off x="0" y="393148"/>
              <a:ext cx="6104761" cy="1517051"/>
            </a:xfrm>
            <a:prstGeom prst="roundRect">
              <a:avLst>
                <a:gd fmla="val 16667" name="adj"/>
              </a:avLst>
            </a:prstGeom>
            <a:solidFill>
              <a:srgbClr val="E96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txBox="1"/>
            <p:nvPr/>
          </p:nvSpPr>
          <p:spPr>
            <a:xfrm>
              <a:off x="74056" y="467204"/>
              <a:ext cx="5956649" cy="1368939"/>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Century Gothic"/>
                <a:buNone/>
              </a:pPr>
              <a:r>
                <a:rPr b="0" i="0" lang="en-US" sz="2200" u="none" cap="none" strike="noStrike">
                  <a:solidFill>
                    <a:schemeClr val="lt1"/>
                  </a:solidFill>
                  <a:latin typeface="Century Gothic"/>
                  <a:ea typeface="Century Gothic"/>
                  <a:cs typeface="Century Gothic"/>
                  <a:sym typeface="Century Gothic"/>
                </a:rPr>
                <a:t>April 2 is World Autism Awareness Day April has also become known as Autism Awareness Month in the United States.</a:t>
              </a:r>
              <a:endParaRPr b="0" i="0" sz="2200" u="none" cap="none" strike="noStrike">
                <a:solidFill>
                  <a:schemeClr val="lt1"/>
                </a:solidFill>
                <a:latin typeface="Century Gothic"/>
                <a:ea typeface="Century Gothic"/>
                <a:cs typeface="Century Gothic"/>
                <a:sym typeface="Century Gothic"/>
              </a:endParaRPr>
            </a:p>
          </p:txBody>
        </p:sp>
        <p:sp>
          <p:nvSpPr>
            <p:cNvPr id="385" name="Google Shape;385;p13"/>
            <p:cNvSpPr/>
            <p:nvPr/>
          </p:nvSpPr>
          <p:spPr>
            <a:xfrm>
              <a:off x="0" y="1973559"/>
              <a:ext cx="6104761" cy="1517051"/>
            </a:xfrm>
            <a:prstGeom prst="roundRect">
              <a:avLst>
                <a:gd fmla="val 16667" name="adj"/>
              </a:avLst>
            </a:prstGeom>
            <a:solidFill>
              <a:srgbClr val="E98E19"/>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3"/>
            <p:cNvSpPr txBox="1"/>
            <p:nvPr/>
          </p:nvSpPr>
          <p:spPr>
            <a:xfrm>
              <a:off x="74056" y="2047615"/>
              <a:ext cx="5956649" cy="1368939"/>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Century Gothic"/>
                <a:buNone/>
              </a:pPr>
              <a:r>
                <a:rPr b="0" i="0" lang="en-US" sz="2200" u="none" cap="none" strike="noStrike">
                  <a:solidFill>
                    <a:schemeClr val="lt1"/>
                  </a:solidFill>
                  <a:latin typeface="Century Gothic"/>
                  <a:ea typeface="Century Gothic"/>
                  <a:cs typeface="Century Gothic"/>
                  <a:sym typeface="Century Gothic"/>
                </a:rPr>
                <a:t>However, many community advocates have rightly called for the need to increase awareness about ASD year-round, and not just during 30 select days.</a:t>
              </a:r>
              <a:endParaRPr b="0" i="0" sz="2200" u="none" cap="none" strike="noStrike">
                <a:solidFill>
                  <a:schemeClr val="lt1"/>
                </a:solidFill>
                <a:latin typeface="Century Gothic"/>
                <a:ea typeface="Century Gothic"/>
                <a:cs typeface="Century Gothic"/>
                <a:sym typeface="Century Gothic"/>
              </a:endParaRPr>
            </a:p>
          </p:txBody>
        </p:sp>
        <p:sp>
          <p:nvSpPr>
            <p:cNvPr id="387" name="Google Shape;387;p13"/>
            <p:cNvSpPr/>
            <p:nvPr/>
          </p:nvSpPr>
          <p:spPr>
            <a:xfrm>
              <a:off x="0" y="3553970"/>
              <a:ext cx="6104761" cy="1517051"/>
            </a:xfrm>
            <a:prstGeom prst="roundRect">
              <a:avLst>
                <a:gd fmla="val 16667" name="adj"/>
              </a:avLst>
            </a:prstGeom>
            <a:solidFill>
              <a:srgbClr val="E6B626"/>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3"/>
            <p:cNvSpPr txBox="1"/>
            <p:nvPr/>
          </p:nvSpPr>
          <p:spPr>
            <a:xfrm>
              <a:off x="74056" y="3628026"/>
              <a:ext cx="5956649" cy="1368939"/>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Century Gothic"/>
                <a:buNone/>
              </a:pPr>
              <a:r>
                <a:rPr b="0" i="0" lang="en-US" sz="2200" u="none" cap="none" strike="noStrike">
                  <a:solidFill>
                    <a:schemeClr val="lt1"/>
                  </a:solidFill>
                  <a:latin typeface="Century Gothic"/>
                  <a:ea typeface="Century Gothic"/>
                  <a:cs typeface="Century Gothic"/>
                  <a:sym typeface="Century Gothic"/>
                </a:rPr>
                <a:t>The Autism Society of America and other advocates have even proposed that April be designated Autism Acceptance Month instead.</a:t>
              </a:r>
              <a:endParaRPr b="0" i="0" sz="22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92" name="Shape 392"/>
        <p:cNvGrpSpPr/>
        <p:nvPr/>
      </p:nvGrpSpPr>
      <p:grpSpPr>
        <a:xfrm>
          <a:off x="0" y="0"/>
          <a:ext cx="0" cy="0"/>
          <a:chOff x="0" y="0"/>
          <a:chExt cx="0" cy="0"/>
        </a:xfrm>
      </p:grpSpPr>
      <p:sp>
        <p:nvSpPr>
          <p:cNvPr id="393" name="Google Shape;393;p14"/>
          <p:cNvSpPr txBox="1"/>
          <p:nvPr>
            <p:ph type="title"/>
          </p:nvPr>
        </p:nvSpPr>
        <p:spPr>
          <a:xfrm>
            <a:off x="565151" y="770889"/>
            <a:ext cx="4133560"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AUTISM ON KIDS</a:t>
            </a:r>
            <a:endParaRPr/>
          </a:p>
        </p:txBody>
      </p:sp>
      <p:grpSp>
        <p:nvGrpSpPr>
          <p:cNvPr id="394" name="Google Shape;394;p14"/>
          <p:cNvGrpSpPr/>
          <p:nvPr/>
        </p:nvGrpSpPr>
        <p:grpSpPr>
          <a:xfrm>
            <a:off x="5316278" y="835904"/>
            <a:ext cx="6104761" cy="5410440"/>
            <a:chOff x="0" y="26865"/>
            <a:chExt cx="6104761" cy="5410440"/>
          </a:xfrm>
        </p:grpSpPr>
        <p:sp>
          <p:nvSpPr>
            <p:cNvPr id="395" name="Google Shape;395;p14"/>
            <p:cNvSpPr/>
            <p:nvPr/>
          </p:nvSpPr>
          <p:spPr>
            <a:xfrm>
              <a:off x="0" y="26865"/>
              <a:ext cx="6104761" cy="1311570"/>
            </a:xfrm>
            <a:prstGeom prst="roundRect">
              <a:avLst>
                <a:gd fmla="val 16667" name="adj"/>
              </a:avLst>
            </a:prstGeom>
            <a:solidFill>
              <a:srgbClr val="E96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4"/>
            <p:cNvSpPr txBox="1"/>
            <p:nvPr/>
          </p:nvSpPr>
          <p:spPr>
            <a:xfrm>
              <a:off x="64026" y="90891"/>
              <a:ext cx="5976709" cy="11835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Century Gothic"/>
                <a:buNone/>
              </a:pPr>
              <a:r>
                <a:rPr b="0" i="0" lang="en-US" sz="1900" u="none" cap="none" strike="noStrike">
                  <a:solidFill>
                    <a:schemeClr val="lt1"/>
                  </a:solidFill>
                  <a:latin typeface="Century Gothic"/>
                  <a:ea typeface="Century Gothic"/>
                  <a:cs typeface="Century Gothic"/>
                  <a:sym typeface="Century Gothic"/>
                </a:rPr>
                <a:t>Autistic children may not reach the same developmental milestones as their peers, or they may demonstrate the loss of previously developed social or language skills.</a:t>
              </a:r>
              <a:endParaRPr b="0" i="0" sz="1900" u="none" cap="none" strike="noStrike">
                <a:solidFill>
                  <a:schemeClr val="lt1"/>
                </a:solidFill>
                <a:latin typeface="Century Gothic"/>
                <a:ea typeface="Century Gothic"/>
                <a:cs typeface="Century Gothic"/>
                <a:sym typeface="Century Gothic"/>
              </a:endParaRPr>
            </a:p>
          </p:txBody>
        </p:sp>
        <p:sp>
          <p:nvSpPr>
            <p:cNvPr id="397" name="Google Shape;397;p14"/>
            <p:cNvSpPr/>
            <p:nvPr/>
          </p:nvSpPr>
          <p:spPr>
            <a:xfrm>
              <a:off x="0" y="1393155"/>
              <a:ext cx="6104761" cy="1311570"/>
            </a:xfrm>
            <a:prstGeom prst="roundRect">
              <a:avLst>
                <a:gd fmla="val 16667" name="adj"/>
              </a:avLst>
            </a:prstGeom>
            <a:solidFill>
              <a:srgbClr val="EB8014"/>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4"/>
            <p:cNvSpPr txBox="1"/>
            <p:nvPr/>
          </p:nvSpPr>
          <p:spPr>
            <a:xfrm>
              <a:off x="64026" y="1457181"/>
              <a:ext cx="5976709" cy="11835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Century Gothic"/>
                <a:buNone/>
              </a:pPr>
              <a:r>
                <a:rPr b="0" i="0" lang="en-US" sz="1900" u="none" cap="none" strike="noStrike">
                  <a:solidFill>
                    <a:schemeClr val="lt1"/>
                  </a:solidFill>
                  <a:latin typeface="Century Gothic"/>
                  <a:ea typeface="Century Gothic"/>
                  <a:cs typeface="Century Gothic"/>
                  <a:sym typeface="Century Gothic"/>
                </a:rPr>
                <a:t>Autistic children may also engage in repetitive behaviours, have difficulty sleeping or compulsively eat non-food items.</a:t>
              </a:r>
              <a:endParaRPr b="0" i="0" sz="1900" u="none" cap="none" strike="noStrike">
                <a:solidFill>
                  <a:schemeClr val="lt1"/>
                </a:solidFill>
                <a:latin typeface="Century Gothic"/>
                <a:ea typeface="Century Gothic"/>
                <a:cs typeface="Century Gothic"/>
                <a:sym typeface="Century Gothic"/>
              </a:endParaRPr>
            </a:p>
          </p:txBody>
        </p:sp>
        <p:sp>
          <p:nvSpPr>
            <p:cNvPr id="399" name="Google Shape;399;p14"/>
            <p:cNvSpPr/>
            <p:nvPr/>
          </p:nvSpPr>
          <p:spPr>
            <a:xfrm>
              <a:off x="0" y="2759445"/>
              <a:ext cx="6104761" cy="1311570"/>
            </a:xfrm>
            <a:prstGeom prst="roundRect">
              <a:avLst>
                <a:gd fmla="val 16667" name="adj"/>
              </a:avLst>
            </a:prstGeom>
            <a:solidFill>
              <a:srgbClr val="E99D1D"/>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4"/>
            <p:cNvSpPr txBox="1"/>
            <p:nvPr/>
          </p:nvSpPr>
          <p:spPr>
            <a:xfrm>
              <a:off x="64026" y="2823471"/>
              <a:ext cx="5976709" cy="11835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Century Gothic"/>
                <a:buNone/>
              </a:pPr>
              <a:r>
                <a:rPr b="0" i="0" lang="en-US" sz="1900" u="none" cap="none" strike="noStrike">
                  <a:solidFill>
                    <a:schemeClr val="lt1"/>
                  </a:solidFill>
                  <a:latin typeface="Century Gothic"/>
                  <a:ea typeface="Century Gothic"/>
                  <a:cs typeface="Century Gothic"/>
                  <a:sym typeface="Century Gothic"/>
                </a:rPr>
                <a:t>Many resources are available to help autistic children as well as their loved ones.</a:t>
              </a:r>
              <a:endParaRPr b="0" i="0" sz="1900" u="none" cap="none" strike="noStrike">
                <a:solidFill>
                  <a:schemeClr val="lt1"/>
                </a:solidFill>
                <a:latin typeface="Century Gothic"/>
                <a:ea typeface="Century Gothic"/>
                <a:cs typeface="Century Gothic"/>
                <a:sym typeface="Century Gothic"/>
              </a:endParaRPr>
            </a:p>
          </p:txBody>
        </p:sp>
        <p:sp>
          <p:nvSpPr>
            <p:cNvPr id="401" name="Google Shape;401;p14"/>
            <p:cNvSpPr/>
            <p:nvPr/>
          </p:nvSpPr>
          <p:spPr>
            <a:xfrm>
              <a:off x="0" y="4125735"/>
              <a:ext cx="6104761" cy="1311570"/>
            </a:xfrm>
            <a:prstGeom prst="roundRect">
              <a:avLst>
                <a:gd fmla="val 16667" name="adj"/>
              </a:avLst>
            </a:prstGeom>
            <a:solidFill>
              <a:srgbClr val="E6B626"/>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4"/>
            <p:cNvSpPr txBox="1"/>
            <p:nvPr/>
          </p:nvSpPr>
          <p:spPr>
            <a:xfrm>
              <a:off x="64026" y="4189761"/>
              <a:ext cx="5976709" cy="1183518"/>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Century Gothic"/>
                <a:buNone/>
              </a:pPr>
              <a:r>
                <a:rPr b="0" i="0" lang="en-US" sz="1900" u="none" cap="none" strike="noStrike">
                  <a:solidFill>
                    <a:schemeClr val="lt1"/>
                  </a:solidFill>
                  <a:latin typeface="Century Gothic"/>
                  <a:ea typeface="Century Gothic"/>
                  <a:cs typeface="Century Gothic"/>
                  <a:sym typeface="Century Gothic"/>
                </a:rPr>
                <a:t>Local support groups can be found through the national non-profit The Autism Society of America</a:t>
              </a:r>
              <a:endParaRPr b="0" i="0" sz="19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6" name="Shape 406"/>
        <p:cNvGrpSpPr/>
        <p:nvPr/>
      </p:nvGrpSpPr>
      <p:grpSpPr>
        <a:xfrm>
          <a:off x="0" y="0"/>
          <a:ext cx="0" cy="0"/>
          <a:chOff x="0" y="0"/>
          <a:chExt cx="0" cy="0"/>
        </a:xfrm>
      </p:grpSpPr>
      <p:sp>
        <p:nvSpPr>
          <p:cNvPr id="407" name="Google Shape;407;p15"/>
          <p:cNvSpPr txBox="1"/>
          <p:nvPr>
            <p:ph type="title"/>
          </p:nvPr>
        </p:nvSpPr>
        <p:spPr>
          <a:xfrm>
            <a:off x="646112" y="4212709"/>
            <a:ext cx="9164206" cy="831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000"/>
              <a:buFont typeface="Century Gothic"/>
              <a:buNone/>
            </a:pPr>
            <a:r>
              <a:rPr lang="en-US" sz="4000"/>
              <a:t>RESOURCES</a:t>
            </a:r>
            <a:endParaRPr/>
          </a:p>
        </p:txBody>
      </p:sp>
      <p:pic>
        <p:nvPicPr>
          <p:cNvPr descr="Graph on document with pen" id="408" name="Google Shape;408;p15"/>
          <p:cNvPicPr preferRelativeResize="0"/>
          <p:nvPr/>
        </p:nvPicPr>
        <p:blipFill rotWithShape="1">
          <a:blip r:embed="rId3">
            <a:alphaModFix/>
          </a:blip>
          <a:srcRect b="-3" l="23364" r="9311" t="0"/>
          <a:stretch/>
        </p:blipFill>
        <p:spPr>
          <a:xfrm>
            <a:off x="1212962" y="640080"/>
            <a:ext cx="3271552" cy="3243757"/>
          </a:xfrm>
          <a:prstGeom prst="rect">
            <a:avLst/>
          </a:prstGeom>
          <a:noFill/>
          <a:ln>
            <a:noFill/>
          </a:ln>
          <a:effectLst>
            <a:outerShdw blurRad="50800" rotWithShape="0" algn="t" dir="5400000" dist="38100">
              <a:srgbClr val="000000">
                <a:alpha val="42745"/>
              </a:srgbClr>
            </a:outerShdw>
          </a:effectLst>
        </p:spPr>
      </p:pic>
      <p:sp>
        <p:nvSpPr>
          <p:cNvPr id="409" name="Google Shape;409;p15"/>
          <p:cNvSpPr txBox="1"/>
          <p:nvPr>
            <p:ph idx="1" type="body"/>
          </p:nvPr>
        </p:nvSpPr>
        <p:spPr>
          <a:xfrm>
            <a:off x="635459" y="5163378"/>
            <a:ext cx="9164206" cy="131693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sz="1800"/>
              <a:t>Our team would like to acknowledge the following organizations for their ample amount of time they have contributed for collecting data and information for our observatory and experiment purposes .</a:t>
            </a:r>
            <a:endParaRPr/>
          </a:p>
          <a:p>
            <a:pPr indent="-251459" lvl="0" marL="342900" rtl="0" algn="l">
              <a:spcBef>
                <a:spcPts val="1000"/>
              </a:spcBef>
              <a:spcAft>
                <a:spcPts val="0"/>
              </a:spcAft>
              <a:buClr>
                <a:srgbClr val="8AD0D6"/>
              </a:buClr>
              <a:buSzPts val="1440"/>
              <a:buNone/>
            </a:pPr>
            <a:r>
              <a:t/>
            </a:r>
            <a:endParaRPr sz="1800"/>
          </a:p>
        </p:txBody>
      </p:sp>
      <p:graphicFrame>
        <p:nvGraphicFramePr>
          <p:cNvPr id="410" name="Google Shape;410;p15"/>
          <p:cNvGraphicFramePr/>
          <p:nvPr/>
        </p:nvGraphicFramePr>
        <p:xfrm>
          <a:off x="5534025" y="1209675"/>
          <a:ext cx="3000000" cy="3000000"/>
        </p:xfrm>
        <a:graphic>
          <a:graphicData uri="http://schemas.openxmlformats.org/drawingml/2006/table">
            <a:tbl>
              <a:tblPr bandRow="1" firstRow="1">
                <a:solidFill>
                  <a:schemeClr val="dk1"/>
                </a:solidFill>
                <a:tableStyleId>{A7A3DC22-DDAF-487E-A417-289DBB299477}</a:tableStyleId>
              </a:tblPr>
              <a:tblGrid>
                <a:gridCol w="2787525"/>
                <a:gridCol w="1803900"/>
                <a:gridCol w="1508625"/>
              </a:tblGrid>
              <a:tr h="610925">
                <a:tc>
                  <a:txBody>
                    <a:bodyPr/>
                    <a:lstStyle/>
                    <a:p>
                      <a:pPr indent="0" lvl="0" marL="0" marR="0" rtl="0" algn="l">
                        <a:spcBef>
                          <a:spcPts val="0"/>
                        </a:spcBef>
                        <a:spcAft>
                          <a:spcPts val="0"/>
                        </a:spcAft>
                        <a:buNone/>
                      </a:pPr>
                      <a:r>
                        <a:rPr b="0" lang="en-US" sz="900" u="none" cap="none" strike="noStrike">
                          <a:solidFill>
                            <a:schemeClr val="dk1"/>
                          </a:solidFill>
                        </a:rPr>
                        <a:t>Name of the organization </a:t>
                      </a:r>
                      <a:endParaRPr b="0" i="0" sz="900" u="none" cap="none" strike="noStrike">
                        <a:solidFill>
                          <a:schemeClr val="dk1"/>
                        </a:solidFill>
                      </a:endParaRPr>
                    </a:p>
                  </a:txBody>
                  <a:tcPr marT="59300" marB="59300" marR="39800" marL="77075" anchor="ctr">
                    <a:lnL cap="flat" cmpd="sng" w="19050">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900" u="none" cap="none" strike="noStrike">
                          <a:solidFill>
                            <a:schemeClr val="dk1"/>
                          </a:solidFill>
                        </a:rPr>
                        <a:t>Spokesperson  </a:t>
                      </a:r>
                      <a:endParaRPr b="0" i="0" sz="900" u="none" cap="none" strike="noStrike">
                        <a:solidFill>
                          <a:schemeClr val="dk1"/>
                        </a:solidFill>
                      </a:endParaRPr>
                    </a:p>
                  </a:txBody>
                  <a:tcPr marT="59300" marB="59300" marR="39800" marL="770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900" u="none" cap="none" strike="noStrike">
                          <a:solidFill>
                            <a:schemeClr val="dk1"/>
                          </a:solidFill>
                        </a:rPr>
                        <a:t>Contact number  </a:t>
                      </a:r>
                      <a:endParaRPr b="0" i="0" sz="900" u="none" cap="none" strike="noStrike">
                        <a:solidFill>
                          <a:schemeClr val="dk1"/>
                        </a:solidFill>
                      </a:endParaRPr>
                    </a:p>
                  </a:txBody>
                  <a:tcPr marT="59300" marB="59300" marR="39800" marL="770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445475">
                <a:tc>
                  <a:txBody>
                    <a:bodyPr/>
                    <a:lstStyle/>
                    <a:p>
                      <a:pPr indent="0" lvl="0" marL="0" marR="0" rtl="0" algn="l">
                        <a:spcBef>
                          <a:spcPts val="0"/>
                        </a:spcBef>
                        <a:spcAft>
                          <a:spcPts val="0"/>
                        </a:spcAft>
                        <a:buNone/>
                      </a:pPr>
                      <a:r>
                        <a:rPr lang="en-US" sz="900" u="none" cap="none" strike="noStrike">
                          <a:solidFill>
                            <a:schemeClr val="lt1"/>
                          </a:solidFill>
                        </a:rPr>
                        <a:t>Sunshine Autism Care.</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EFEFE"/>
                      </a:solidFill>
                      <a:prstDash val="solid"/>
                      <a:round/>
                      <a:headEnd len="sm" w="sm" type="none"/>
                      <a:tailEnd len="sm" w="sm" type="none"/>
                    </a:lnB>
                  </a:tcPr>
                </a:tc>
                <a:tc>
                  <a:txBody>
                    <a:bodyPr/>
                    <a:lstStyle/>
                    <a:p>
                      <a:pPr indent="0" lvl="0" marL="0" marR="0" rtl="0" algn="l">
                        <a:spcBef>
                          <a:spcPts val="0"/>
                        </a:spcBef>
                        <a:spcAft>
                          <a:spcPts val="0"/>
                        </a:spcAft>
                        <a:buNone/>
                      </a:pPr>
                      <a:r>
                        <a:rPr lang="en-US" sz="900" u="none" cap="none" strike="noStrike">
                          <a:solidFill>
                            <a:schemeClr val="lt1"/>
                          </a:solidFill>
                        </a:rPr>
                        <a:t>Nilanjana Rambothu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EFEFE"/>
                      </a:solidFill>
                      <a:prstDash val="solid"/>
                      <a:round/>
                      <a:headEnd len="sm" w="sm" type="none"/>
                      <a:tailEnd len="sm" w="sm" type="none"/>
                    </a:lnB>
                  </a:tcPr>
                </a:tc>
                <a:tc>
                  <a:txBody>
                    <a:bodyPr/>
                    <a:lstStyle/>
                    <a:p>
                      <a:pPr indent="0" lvl="0" marL="0" marR="0" rtl="0" algn="l">
                        <a:spcBef>
                          <a:spcPts val="0"/>
                        </a:spcBef>
                        <a:spcAft>
                          <a:spcPts val="0"/>
                        </a:spcAft>
                        <a:buNone/>
                      </a:pPr>
                      <a:r>
                        <a:rPr lang="en-US" sz="900" u="none" cap="none" strike="noStrike">
                          <a:solidFill>
                            <a:schemeClr val="lt1"/>
                          </a:solidFill>
                        </a:rPr>
                        <a:t>+91 98318 29177 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EFEFE"/>
                      </a:solidFill>
                      <a:prstDash val="solid"/>
                      <a:round/>
                      <a:headEnd len="sm" w="sm" type="none"/>
                      <a:tailEnd len="sm" w="sm" type="none"/>
                    </a:lnB>
                  </a:tcPr>
                </a:tc>
              </a:tr>
              <a:tr h="445475">
                <a:tc>
                  <a:txBody>
                    <a:bodyPr/>
                    <a:lstStyle/>
                    <a:p>
                      <a:pPr indent="0" lvl="0" marL="0" marR="0" rtl="0" algn="l">
                        <a:spcBef>
                          <a:spcPts val="0"/>
                        </a:spcBef>
                        <a:spcAft>
                          <a:spcPts val="0"/>
                        </a:spcAft>
                        <a:buNone/>
                      </a:pPr>
                      <a:r>
                        <a:rPr lang="en-US" sz="900" u="none" cap="none" strike="noStrike">
                          <a:solidFill>
                            <a:schemeClr val="lt1"/>
                          </a:solidFill>
                        </a:rPr>
                        <a:t>Happy to learn autism.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FEFEFE"/>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900" u="none" cap="none" strike="noStrike">
                          <a:solidFill>
                            <a:schemeClr val="lt1"/>
                          </a:solidFill>
                        </a:rPr>
                        <a:t>Susmita Das Bhattacharya</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FEFEFE"/>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900" u="none" cap="none" strike="noStrike">
                          <a:solidFill>
                            <a:schemeClr val="lt1"/>
                          </a:solidFill>
                        </a:rPr>
                        <a:t>+918017784551 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EFEFE"/>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661825">
                <a:tc>
                  <a:txBody>
                    <a:bodyPr/>
                    <a:lstStyle/>
                    <a:p>
                      <a:pPr indent="0" lvl="0" marL="0" marR="0" rtl="0" algn="l">
                        <a:spcBef>
                          <a:spcPts val="0"/>
                        </a:spcBef>
                        <a:spcAft>
                          <a:spcPts val="0"/>
                        </a:spcAft>
                        <a:buNone/>
                      </a:pPr>
                      <a:r>
                        <a:rPr lang="en-US" sz="900" u="none" cap="none" strike="noStrike">
                          <a:solidFill>
                            <a:schemeClr val="lt1"/>
                          </a:solidFill>
                        </a:rPr>
                        <a:t>Special educator for special child.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EFEFE"/>
                      </a:solidFill>
                      <a:prstDash val="solid"/>
                      <a:round/>
                      <a:headEnd len="sm" w="sm" type="none"/>
                      <a:tailEnd len="sm" w="sm" type="none"/>
                    </a:lnB>
                  </a:tcPr>
                </a:tc>
                <a:tc>
                  <a:txBody>
                    <a:bodyPr/>
                    <a:lstStyle/>
                    <a:p>
                      <a:pPr indent="0" lvl="0" marL="0" marR="0" rtl="0" algn="l">
                        <a:spcBef>
                          <a:spcPts val="0"/>
                        </a:spcBef>
                        <a:spcAft>
                          <a:spcPts val="0"/>
                        </a:spcAft>
                        <a:buNone/>
                      </a:pPr>
                      <a:r>
                        <a:rPr lang="en-US" sz="900" u="none" cap="none" strike="noStrike">
                          <a:solidFill>
                            <a:schemeClr val="lt1"/>
                          </a:solidFill>
                        </a:rPr>
                        <a:t>Pijush Ray </a:t>
                      </a:r>
                      <a:endParaRPr/>
                    </a:p>
                    <a:p>
                      <a:pPr indent="0" lvl="0" marL="0" marR="0" rtl="0" algn="l">
                        <a:spcBef>
                          <a:spcPts val="0"/>
                        </a:spcBef>
                        <a:spcAft>
                          <a:spcPts val="0"/>
                        </a:spcAft>
                        <a:buNone/>
                      </a:pPr>
                      <a:r>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EFEFE"/>
                      </a:solidFill>
                      <a:prstDash val="solid"/>
                      <a:round/>
                      <a:headEnd len="sm" w="sm" type="none"/>
                      <a:tailEnd len="sm" w="sm" type="none"/>
                    </a:lnB>
                  </a:tcPr>
                </a:tc>
                <a:tc>
                  <a:txBody>
                    <a:bodyPr/>
                    <a:lstStyle/>
                    <a:p>
                      <a:pPr indent="0" lvl="0" marL="0" marR="0" rtl="0" algn="l">
                        <a:spcBef>
                          <a:spcPts val="0"/>
                        </a:spcBef>
                        <a:spcAft>
                          <a:spcPts val="0"/>
                        </a:spcAft>
                        <a:buNone/>
                      </a:pPr>
                      <a:r>
                        <a:rPr lang="en-US" sz="900" u="none" cap="none" strike="noStrike">
                          <a:solidFill>
                            <a:schemeClr val="lt1"/>
                          </a:solidFill>
                        </a:rPr>
                        <a:t>+917980171377 </a:t>
                      </a:r>
                      <a:endParaRPr/>
                    </a:p>
                    <a:p>
                      <a:pPr indent="0" lvl="0" marL="0" marR="0" rtl="0" algn="l">
                        <a:spcBef>
                          <a:spcPts val="0"/>
                        </a:spcBef>
                        <a:spcAft>
                          <a:spcPts val="0"/>
                        </a:spcAft>
                        <a:buNone/>
                      </a:pPr>
                      <a:r>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EFEFE"/>
                      </a:solidFill>
                      <a:prstDash val="solid"/>
                      <a:round/>
                      <a:headEnd len="sm" w="sm" type="none"/>
                      <a:tailEnd len="sm" w="sm" type="none"/>
                    </a:lnB>
                  </a:tcPr>
                </a:tc>
              </a:tr>
              <a:tr h="1018200">
                <a:tc>
                  <a:txBody>
                    <a:bodyPr/>
                    <a:lstStyle/>
                    <a:p>
                      <a:pPr indent="0" lvl="0" marL="0" marR="0" rtl="0" algn="l">
                        <a:spcBef>
                          <a:spcPts val="0"/>
                        </a:spcBef>
                        <a:spcAft>
                          <a:spcPts val="0"/>
                        </a:spcAft>
                        <a:buNone/>
                      </a:pPr>
                      <a:r>
                        <a:rPr lang="en-US" sz="900" u="none" cap="none" strike="noStrike">
                          <a:solidFill>
                            <a:schemeClr val="lt1"/>
                          </a:solidFill>
                        </a:rPr>
                        <a:t>Jadavpur Manogyan Rehabilitation Programme for Disabled Children. </a:t>
                      </a:r>
                      <a:endParaRPr/>
                    </a:p>
                    <a:p>
                      <a:pPr indent="0" lvl="0" marL="0" marR="0" rtl="0" algn="l">
                        <a:spcBef>
                          <a:spcPts val="0"/>
                        </a:spcBef>
                        <a:spcAft>
                          <a:spcPts val="0"/>
                        </a:spcAft>
                        <a:buNone/>
                      </a:pPr>
                      <a:r>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FEFEFE"/>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900" u="none" cap="none" strike="noStrike">
                          <a:solidFill>
                            <a:schemeClr val="lt1"/>
                          </a:solidFill>
                        </a:rPr>
                        <a:t>Iti Saha </a:t>
                      </a:r>
                      <a:endParaRPr/>
                    </a:p>
                    <a:p>
                      <a:pPr indent="0" lvl="0" marL="0" marR="0" rtl="0" algn="l">
                        <a:spcBef>
                          <a:spcPts val="0"/>
                        </a:spcBef>
                        <a:spcAft>
                          <a:spcPts val="0"/>
                        </a:spcAft>
                        <a:buNone/>
                      </a:pPr>
                      <a:r>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FEFEFE"/>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900" u="none" cap="none" strike="noStrike">
                          <a:solidFill>
                            <a:schemeClr val="lt1"/>
                          </a:solidFill>
                        </a:rPr>
                        <a:t>+919836430248 </a:t>
                      </a:r>
                      <a:endParaRPr/>
                    </a:p>
                    <a:p>
                      <a:pPr indent="0" lvl="0" marL="0" marR="0" rtl="0" algn="l">
                        <a:spcBef>
                          <a:spcPts val="0"/>
                        </a:spcBef>
                        <a:spcAft>
                          <a:spcPts val="0"/>
                        </a:spcAft>
                        <a:buNone/>
                      </a:pPr>
                      <a:r>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EFEFE"/>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687300">
                <a:tc>
                  <a:txBody>
                    <a:bodyPr/>
                    <a:lstStyle/>
                    <a:p>
                      <a:pPr indent="0" lvl="0" marL="0" marR="0" rtl="0" algn="l">
                        <a:spcBef>
                          <a:spcPts val="0"/>
                        </a:spcBef>
                        <a:spcAft>
                          <a:spcPts val="0"/>
                        </a:spcAft>
                        <a:buNone/>
                      </a:pPr>
                      <a:r>
                        <a:rPr lang="en-US" sz="900" u="none" cap="none" strike="noStrike">
                          <a:solidFill>
                            <a:schemeClr val="lt1"/>
                          </a:solidFill>
                        </a:rPr>
                        <a:t>Kolkata Anubhuti.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900" u="none" cap="none" strike="noStrike">
                          <a:solidFill>
                            <a:schemeClr val="lt1"/>
                          </a:solidFill>
                        </a:rPr>
                        <a:t>Gopa Mukherjee </a:t>
                      </a:r>
                      <a:endParaRPr/>
                    </a:p>
                    <a:p>
                      <a:pPr indent="0" lvl="0" marL="0" marR="0" rtl="0" algn="l">
                        <a:spcBef>
                          <a:spcPts val="0"/>
                        </a:spcBef>
                        <a:spcAft>
                          <a:spcPts val="0"/>
                        </a:spcAft>
                        <a:buNone/>
                      </a:pPr>
                      <a:r>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900" u="none" cap="none" strike="noStrike">
                          <a:solidFill>
                            <a:schemeClr val="lt1"/>
                          </a:solidFill>
                        </a:rPr>
                        <a:t>+919674340287 </a:t>
                      </a:r>
                      <a:endParaRPr/>
                    </a:p>
                    <a:p>
                      <a:pPr indent="0" lvl="0" marL="0" marR="0" rtl="0" algn="l">
                        <a:spcBef>
                          <a:spcPts val="0"/>
                        </a:spcBef>
                        <a:spcAft>
                          <a:spcPts val="0"/>
                        </a:spcAft>
                        <a:buNone/>
                      </a:pPr>
                      <a:r>
                        <a:t/>
                      </a:r>
                      <a:endParaRPr b="0" i="0" sz="900" u="none" cap="none" strike="noStrike">
                        <a:solidFill>
                          <a:schemeClr val="lt1"/>
                        </a:solidFill>
                      </a:endParaRPr>
                    </a:p>
                  </a:txBody>
                  <a:tcPr marT="59300" marB="59300" marR="39800" marL="770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14" name="Shape 414"/>
        <p:cNvGrpSpPr/>
        <p:nvPr/>
      </p:nvGrpSpPr>
      <p:grpSpPr>
        <a:xfrm>
          <a:off x="0" y="0"/>
          <a:ext cx="0" cy="0"/>
          <a:chOff x="0" y="0"/>
          <a:chExt cx="0" cy="0"/>
        </a:xfrm>
      </p:grpSpPr>
      <p:sp>
        <p:nvSpPr>
          <p:cNvPr id="415" name="Google Shape;415;p1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2"/>
              </a:buClr>
              <a:buSzPts val="2900"/>
              <a:buFont typeface="Century Gothic"/>
              <a:buNone/>
            </a:pPr>
            <a:r>
              <a:rPr lang="en-US" sz="2900"/>
              <a:t>Questions asked</a:t>
            </a:r>
            <a:br>
              <a:rPr lang="en-US" sz="2900"/>
            </a:br>
            <a:r>
              <a:rPr b="1" lang="en-US" sz="2900">
                <a:latin typeface="Century Gothic"/>
                <a:ea typeface="Century Gothic"/>
                <a:cs typeface="Century Gothic"/>
                <a:sym typeface="Century Gothic"/>
              </a:rPr>
              <a:t>What are the problems faced on this particular disease, autism?</a:t>
            </a:r>
            <a:r>
              <a:rPr b="1" lang="en-US" sz="2900">
                <a:latin typeface="Comic Sans MS"/>
                <a:ea typeface="Comic Sans MS"/>
                <a:cs typeface="Comic Sans MS"/>
                <a:sym typeface="Comic Sans MS"/>
              </a:rPr>
              <a:t> </a:t>
            </a:r>
            <a:endParaRPr sz="2900">
              <a:latin typeface="Comic Sans MS"/>
              <a:ea typeface="Comic Sans MS"/>
              <a:cs typeface="Comic Sans MS"/>
              <a:sym typeface="Comic Sans MS"/>
            </a:endParaRPr>
          </a:p>
        </p:txBody>
      </p:sp>
      <p:sp>
        <p:nvSpPr>
          <p:cNvPr id="416" name="Google Shape;416;p16"/>
          <p:cNvSpPr/>
          <p:nvPr/>
        </p:nvSpPr>
        <p:spPr>
          <a:xfrm>
            <a:off x="10442448"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7" name="Google Shape;417;p16"/>
          <p:cNvGrpSpPr/>
          <p:nvPr/>
        </p:nvGrpSpPr>
        <p:grpSpPr>
          <a:xfrm>
            <a:off x="2191487" y="2055123"/>
            <a:ext cx="6770190" cy="4191070"/>
            <a:chOff x="1088175" y="2205"/>
            <a:chExt cx="6770190" cy="4191070"/>
          </a:xfrm>
        </p:grpSpPr>
        <p:sp>
          <p:nvSpPr>
            <p:cNvPr id="418" name="Google Shape;418;p16"/>
            <p:cNvSpPr/>
            <p:nvPr/>
          </p:nvSpPr>
          <p:spPr>
            <a:xfrm>
              <a:off x="1088175" y="2205"/>
              <a:ext cx="3223900" cy="1934340"/>
            </a:xfrm>
            <a:prstGeom prst="rect">
              <a:avLst/>
            </a:prstGeom>
            <a:solidFill>
              <a:srgbClr val="52849A"/>
            </a:solidFill>
            <a:ln cap="rnd"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6"/>
            <p:cNvSpPr txBox="1"/>
            <p:nvPr/>
          </p:nvSpPr>
          <p:spPr>
            <a:xfrm>
              <a:off x="1088175" y="2205"/>
              <a:ext cx="3223900" cy="1934340"/>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Century Gothic"/>
                <a:buNone/>
              </a:pPr>
              <a:r>
                <a:rPr b="1" i="1" lang="en-US" sz="1100" u="none" cap="none" strike="noStrike">
                  <a:solidFill>
                    <a:schemeClr val="lt1"/>
                  </a:solidFill>
                  <a:latin typeface="Century Gothic"/>
                  <a:ea typeface="Century Gothic"/>
                  <a:cs typeface="Century Gothic"/>
                  <a:sym typeface="Century Gothic"/>
                </a:rPr>
                <a:t>“The brain isn't mature as a result grasping power, gross motor and fine motor is not properly developed. As a result, basic activities such as holding a pencil, scribbling, dot joining etc.  becomes difficult for them to perform. As a result, writing skill isn't properly developed. </a:t>
              </a:r>
              <a:endParaRPr b="0" i="1" sz="1100" u="none" cap="none" strike="noStrike">
                <a:solidFill>
                  <a:schemeClr val="lt1"/>
                </a:solidFill>
                <a:latin typeface="Century Gothic"/>
                <a:ea typeface="Century Gothic"/>
                <a:cs typeface="Century Gothic"/>
                <a:sym typeface="Century Gothic"/>
              </a:endParaRPr>
            </a:p>
          </p:txBody>
        </p:sp>
        <p:sp>
          <p:nvSpPr>
            <p:cNvPr id="420" name="Google Shape;420;p16"/>
            <p:cNvSpPr/>
            <p:nvPr/>
          </p:nvSpPr>
          <p:spPr>
            <a:xfrm>
              <a:off x="4634465" y="2205"/>
              <a:ext cx="3223900" cy="1934340"/>
            </a:xfrm>
            <a:prstGeom prst="rect">
              <a:avLst/>
            </a:prstGeom>
            <a:solidFill>
              <a:srgbClr val="52849A"/>
            </a:solidFill>
            <a:ln cap="rnd"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txBox="1"/>
            <p:nvPr/>
          </p:nvSpPr>
          <p:spPr>
            <a:xfrm>
              <a:off x="4634465" y="2205"/>
              <a:ext cx="3223900" cy="1934340"/>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Century Gothic"/>
                <a:buNone/>
              </a:pPr>
              <a:r>
                <a:rPr b="1" i="1" lang="en-US" sz="1100" u="none" cap="none" strike="noStrike">
                  <a:solidFill>
                    <a:schemeClr val="lt1"/>
                  </a:solidFill>
                  <a:latin typeface="Century Gothic"/>
                  <a:ea typeface="Century Gothic"/>
                  <a:cs typeface="Century Gothic"/>
                  <a:sym typeface="Century Gothic"/>
                </a:rPr>
                <a:t>Autism can be due to a number of reasons, pregnancy stress of the mother, or pressure on the brain during delivery etc.”</a:t>
              </a:r>
              <a:endParaRPr b="0" i="1" sz="1100" u="none" cap="none" strike="noStrike">
                <a:solidFill>
                  <a:schemeClr val="lt1"/>
                </a:solidFill>
                <a:latin typeface="Century Gothic"/>
                <a:ea typeface="Century Gothic"/>
                <a:cs typeface="Century Gothic"/>
                <a:sym typeface="Century Gothic"/>
              </a:endParaRPr>
            </a:p>
          </p:txBody>
        </p:sp>
        <p:sp>
          <p:nvSpPr>
            <p:cNvPr id="422" name="Google Shape;422;p16"/>
            <p:cNvSpPr/>
            <p:nvPr/>
          </p:nvSpPr>
          <p:spPr>
            <a:xfrm>
              <a:off x="1088175" y="2258935"/>
              <a:ext cx="3223900" cy="1934340"/>
            </a:xfrm>
            <a:prstGeom prst="rect">
              <a:avLst/>
            </a:prstGeom>
            <a:solidFill>
              <a:srgbClr val="52849A"/>
            </a:solidFill>
            <a:ln cap="rnd"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6"/>
            <p:cNvSpPr txBox="1"/>
            <p:nvPr/>
          </p:nvSpPr>
          <p:spPr>
            <a:xfrm>
              <a:off x="1088175" y="2258935"/>
              <a:ext cx="3223900" cy="1934340"/>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Century Gothic"/>
                <a:buNone/>
              </a:pPr>
              <a:r>
                <a:rPr b="1" i="1" lang="en-US" sz="1100" u="none" cap="none" strike="noStrike">
                  <a:solidFill>
                    <a:schemeClr val="lt1"/>
                  </a:solidFill>
                  <a:latin typeface="Century Gothic"/>
                  <a:ea typeface="Century Gothic"/>
                  <a:cs typeface="Century Gothic"/>
                  <a:sym typeface="Century Gothic"/>
                </a:rPr>
                <a:t>“  In many cases fine motor problem is widely observed among the majority kids with autism.  For example, problem in how to hold a pencil is a common issue noticed among such kids. In some cases, kids with autism find it difficult to quickly follow or execute instructions. With age, the child might develop speech problems. A common characteristic noticed among these children that they are antisocial and love their own company, they prefer solitude.”</a:t>
              </a:r>
              <a:endParaRPr b="0" i="1" sz="1100" u="none" cap="none" strike="noStrike">
                <a:solidFill>
                  <a:schemeClr val="lt1"/>
                </a:solidFill>
                <a:latin typeface="Century Gothic"/>
                <a:ea typeface="Century Gothic"/>
                <a:cs typeface="Century Gothic"/>
                <a:sym typeface="Century Gothic"/>
              </a:endParaRPr>
            </a:p>
          </p:txBody>
        </p:sp>
        <p:sp>
          <p:nvSpPr>
            <p:cNvPr id="424" name="Google Shape;424;p16"/>
            <p:cNvSpPr/>
            <p:nvPr/>
          </p:nvSpPr>
          <p:spPr>
            <a:xfrm>
              <a:off x="4634465" y="2258935"/>
              <a:ext cx="3223900" cy="1934340"/>
            </a:xfrm>
            <a:prstGeom prst="rect">
              <a:avLst/>
            </a:prstGeom>
            <a:solidFill>
              <a:srgbClr val="52849A"/>
            </a:solidFill>
            <a:ln cap="rnd"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6"/>
            <p:cNvSpPr txBox="1"/>
            <p:nvPr/>
          </p:nvSpPr>
          <p:spPr>
            <a:xfrm>
              <a:off x="4634465" y="2258935"/>
              <a:ext cx="3223900" cy="1934340"/>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Century Gothic"/>
                <a:buNone/>
              </a:pPr>
              <a:r>
                <a:rPr b="1" i="1" lang="en-US" sz="1100" u="none" cap="none" strike="noStrike">
                  <a:solidFill>
                    <a:schemeClr val="lt1"/>
                  </a:solidFill>
                  <a:latin typeface="Century Gothic"/>
                  <a:ea typeface="Century Gothic"/>
                  <a:cs typeface="Century Gothic"/>
                  <a:sym typeface="Century Gothic"/>
                </a:rPr>
                <a:t>“In this condition the children suffer Neuro problem due to which they have issue in gripping objects (pen, pencil etc.)  and hence they face difficulty in writing.  They face fine motor problem and gross motor problem.”</a:t>
              </a:r>
              <a:endParaRPr b="0" i="1" sz="11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9" name="Shape 429"/>
        <p:cNvGrpSpPr/>
        <p:nvPr/>
      </p:nvGrpSpPr>
      <p:grpSpPr>
        <a:xfrm>
          <a:off x="0" y="0"/>
          <a:ext cx="0" cy="0"/>
          <a:chOff x="0" y="0"/>
          <a:chExt cx="0" cy="0"/>
        </a:xfrm>
      </p:grpSpPr>
      <p:sp>
        <p:nvSpPr>
          <p:cNvPr id="430" name="Google Shape;430;p1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lt2"/>
              </a:buClr>
              <a:buSzPct val="100000"/>
              <a:buFont typeface="Century Gothic"/>
              <a:buNone/>
            </a:pPr>
            <a:r>
              <a:rPr lang="en-US" sz="2500"/>
              <a:t>Questions asked</a:t>
            </a:r>
            <a:br>
              <a:rPr lang="en-US" sz="2500"/>
            </a:br>
            <a:br>
              <a:rPr lang="en-US" sz="2900"/>
            </a:br>
            <a:r>
              <a:rPr b="1" lang="en-US" sz="2900"/>
              <a:t>What is the range of age group being affected to this particular problem?</a:t>
            </a:r>
            <a:endParaRPr sz="2900"/>
          </a:p>
        </p:txBody>
      </p:sp>
      <p:sp>
        <p:nvSpPr>
          <p:cNvPr id="431" name="Google Shape;431;p17"/>
          <p:cNvSpPr/>
          <p:nvPr/>
        </p:nvSpPr>
        <p:spPr>
          <a:xfrm>
            <a:off x="10442448"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2" name="Google Shape;432;p17"/>
          <p:cNvGrpSpPr/>
          <p:nvPr/>
        </p:nvGrpSpPr>
        <p:grpSpPr>
          <a:xfrm>
            <a:off x="2191487" y="2055123"/>
            <a:ext cx="6770190" cy="4191070"/>
            <a:chOff x="1088175" y="2205"/>
            <a:chExt cx="6770190" cy="4191070"/>
          </a:xfrm>
        </p:grpSpPr>
        <p:sp>
          <p:nvSpPr>
            <p:cNvPr id="433" name="Google Shape;433;p17"/>
            <p:cNvSpPr/>
            <p:nvPr/>
          </p:nvSpPr>
          <p:spPr>
            <a:xfrm>
              <a:off x="1088175" y="2205"/>
              <a:ext cx="3223900" cy="1934340"/>
            </a:xfrm>
            <a:prstGeom prst="rect">
              <a:avLst/>
            </a:prstGeom>
            <a:solidFill>
              <a:schemeClr val="accent6"/>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7"/>
            <p:cNvSpPr txBox="1"/>
            <p:nvPr/>
          </p:nvSpPr>
          <p:spPr>
            <a:xfrm>
              <a:off x="1088175" y="2205"/>
              <a:ext cx="3223900" cy="1934340"/>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Century Gothic"/>
                <a:buNone/>
              </a:pPr>
              <a:r>
                <a:rPr b="1" i="1" lang="en-US" sz="1600" u="none" cap="none" strike="noStrike">
                  <a:solidFill>
                    <a:schemeClr val="lt1"/>
                  </a:solidFill>
                  <a:latin typeface="Century Gothic"/>
                  <a:ea typeface="Century Gothic"/>
                  <a:cs typeface="Century Gothic"/>
                  <a:sym typeface="Century Gothic"/>
                </a:rPr>
                <a:t>“Inborn”</a:t>
              </a:r>
              <a:endParaRPr b="0" i="1" sz="1600" u="none" cap="none" strike="noStrike">
                <a:solidFill>
                  <a:schemeClr val="lt1"/>
                </a:solidFill>
                <a:latin typeface="Century Gothic"/>
                <a:ea typeface="Century Gothic"/>
                <a:cs typeface="Century Gothic"/>
                <a:sym typeface="Century Gothic"/>
              </a:endParaRPr>
            </a:p>
          </p:txBody>
        </p:sp>
        <p:sp>
          <p:nvSpPr>
            <p:cNvPr id="435" name="Google Shape;435;p17"/>
            <p:cNvSpPr/>
            <p:nvPr/>
          </p:nvSpPr>
          <p:spPr>
            <a:xfrm>
              <a:off x="4634465" y="2205"/>
              <a:ext cx="3223900" cy="1934340"/>
            </a:xfrm>
            <a:prstGeom prst="rect">
              <a:avLst/>
            </a:prstGeom>
            <a:solidFill>
              <a:schemeClr val="accent6"/>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7"/>
            <p:cNvSpPr txBox="1"/>
            <p:nvPr/>
          </p:nvSpPr>
          <p:spPr>
            <a:xfrm>
              <a:off x="4634465" y="2205"/>
              <a:ext cx="3223900" cy="1934340"/>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Century Gothic"/>
                <a:buNone/>
              </a:pPr>
              <a:r>
                <a:rPr b="1" i="1" lang="en-US" sz="1600" u="none" cap="none" strike="noStrike">
                  <a:solidFill>
                    <a:schemeClr val="lt1"/>
                  </a:solidFill>
                  <a:latin typeface="Century Gothic"/>
                  <a:ea typeface="Century Gothic"/>
                  <a:cs typeface="Century Gothic"/>
                  <a:sym typeface="Century Gothic"/>
                </a:rPr>
                <a:t>“Inborn, autism can be detected even within six months of birth. With age there can be onset of speech issues.”</a:t>
              </a:r>
              <a:endParaRPr b="0" i="0" sz="1600" u="none" cap="none" strike="noStrike">
                <a:solidFill>
                  <a:schemeClr val="lt1"/>
                </a:solidFill>
                <a:latin typeface="Century Gothic"/>
                <a:ea typeface="Century Gothic"/>
                <a:cs typeface="Century Gothic"/>
                <a:sym typeface="Century Gothic"/>
              </a:endParaRPr>
            </a:p>
          </p:txBody>
        </p:sp>
        <p:sp>
          <p:nvSpPr>
            <p:cNvPr id="437" name="Google Shape;437;p17"/>
            <p:cNvSpPr/>
            <p:nvPr/>
          </p:nvSpPr>
          <p:spPr>
            <a:xfrm>
              <a:off x="1088175" y="2258935"/>
              <a:ext cx="3223900" cy="1934340"/>
            </a:xfrm>
            <a:prstGeom prst="rect">
              <a:avLst/>
            </a:prstGeom>
            <a:solidFill>
              <a:schemeClr val="accent6"/>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7"/>
            <p:cNvSpPr txBox="1"/>
            <p:nvPr/>
          </p:nvSpPr>
          <p:spPr>
            <a:xfrm>
              <a:off x="1088175" y="2258935"/>
              <a:ext cx="3223900" cy="1934340"/>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Century Gothic"/>
                <a:buNone/>
              </a:pPr>
              <a:r>
                <a:rPr b="1" i="1" lang="en-US" sz="1600" u="none" cap="none" strike="noStrike">
                  <a:solidFill>
                    <a:schemeClr val="lt1"/>
                  </a:solidFill>
                  <a:latin typeface="Century Gothic"/>
                  <a:ea typeface="Century Gothic"/>
                  <a:cs typeface="Century Gothic"/>
                  <a:sym typeface="Century Gothic"/>
                </a:rPr>
                <a:t>“Pijush Ray and his team have observed that autism is not only inborn but can also develop after certain age.  For example, there are cases where a child develops the condition after 7 to 8 years of age.”</a:t>
              </a:r>
              <a:endParaRPr b="0" i="1" sz="1600" u="none" cap="none" strike="noStrike">
                <a:solidFill>
                  <a:schemeClr val="lt1"/>
                </a:solidFill>
                <a:latin typeface="Century Gothic"/>
                <a:ea typeface="Century Gothic"/>
                <a:cs typeface="Century Gothic"/>
                <a:sym typeface="Century Gothic"/>
              </a:endParaRPr>
            </a:p>
          </p:txBody>
        </p:sp>
        <p:sp>
          <p:nvSpPr>
            <p:cNvPr id="439" name="Google Shape;439;p17"/>
            <p:cNvSpPr/>
            <p:nvPr/>
          </p:nvSpPr>
          <p:spPr>
            <a:xfrm>
              <a:off x="4634465" y="2258935"/>
              <a:ext cx="3223900" cy="1934340"/>
            </a:xfrm>
            <a:prstGeom prst="rect">
              <a:avLst/>
            </a:prstGeom>
            <a:solidFill>
              <a:schemeClr val="accent6"/>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7"/>
            <p:cNvSpPr txBox="1"/>
            <p:nvPr/>
          </p:nvSpPr>
          <p:spPr>
            <a:xfrm>
              <a:off x="4634465" y="2258935"/>
              <a:ext cx="3223900" cy="1934340"/>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Century Gothic"/>
                <a:buNone/>
              </a:pPr>
              <a:r>
                <a:t/>
              </a:r>
              <a:endParaRPr b="1" i="1" sz="16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44" name="Shape 444"/>
        <p:cNvGrpSpPr/>
        <p:nvPr/>
      </p:nvGrpSpPr>
      <p:grpSpPr>
        <a:xfrm>
          <a:off x="0" y="0"/>
          <a:ext cx="0" cy="0"/>
          <a:chOff x="0" y="0"/>
          <a:chExt cx="0" cy="0"/>
        </a:xfrm>
      </p:grpSpPr>
      <p:sp>
        <p:nvSpPr>
          <p:cNvPr id="445" name="Google Shape;445;p1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lt2"/>
              </a:buClr>
              <a:buSzPct val="100000"/>
              <a:buFont typeface="Century Gothic"/>
              <a:buNone/>
            </a:pPr>
            <a:r>
              <a:rPr lang="en-US" sz="2500"/>
              <a:t>Questions asked</a:t>
            </a:r>
            <a:br>
              <a:rPr lang="en-US" sz="2500"/>
            </a:br>
            <a:br>
              <a:rPr lang="en-US" sz="2900"/>
            </a:br>
            <a:r>
              <a:rPr b="1" lang="en-US" sz="2900"/>
              <a:t>Opinions on the change for improving an autistic kid vision and reading problems. </a:t>
            </a:r>
            <a:endParaRPr sz="2900"/>
          </a:p>
        </p:txBody>
      </p:sp>
      <p:sp>
        <p:nvSpPr>
          <p:cNvPr id="446" name="Google Shape;446;p18"/>
          <p:cNvSpPr/>
          <p:nvPr/>
        </p:nvSpPr>
        <p:spPr>
          <a:xfrm>
            <a:off x="10442448"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7" name="Google Shape;447;p18"/>
          <p:cNvGrpSpPr/>
          <p:nvPr/>
        </p:nvGrpSpPr>
        <p:grpSpPr>
          <a:xfrm>
            <a:off x="2191487" y="2055123"/>
            <a:ext cx="6770190" cy="4191070"/>
            <a:chOff x="1088175" y="2205"/>
            <a:chExt cx="6770190" cy="4191070"/>
          </a:xfrm>
        </p:grpSpPr>
        <p:sp>
          <p:nvSpPr>
            <p:cNvPr id="448" name="Google Shape;448;p18"/>
            <p:cNvSpPr/>
            <p:nvPr/>
          </p:nvSpPr>
          <p:spPr>
            <a:xfrm>
              <a:off x="1088175" y="2205"/>
              <a:ext cx="3223900" cy="1934340"/>
            </a:xfrm>
            <a:prstGeom prst="rect">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8"/>
            <p:cNvSpPr txBox="1"/>
            <p:nvPr/>
          </p:nvSpPr>
          <p:spPr>
            <a:xfrm>
              <a:off x="1088175" y="2205"/>
              <a:ext cx="3223900" cy="1934340"/>
            </a:xfrm>
            <a:prstGeom prst="rect">
              <a:avLst/>
            </a:prstGeom>
            <a:noFill/>
            <a:ln>
              <a:noFill/>
            </a:ln>
          </p:spPr>
          <p:txBody>
            <a:bodyPr anchorCtr="0" anchor="ctr" bIns="57150" lIns="57150" spcFirstLastPara="1" rIns="57150" wrap="square" tIns="57150">
              <a:noAutofit/>
            </a:bodyPr>
            <a:lstStyle/>
            <a:p>
              <a:pPr indent="0" lvl="0" marL="0" marR="0" rtl="0" algn="ctr">
                <a:lnSpc>
                  <a:spcPct val="90000"/>
                </a:lnSpc>
                <a:spcBef>
                  <a:spcPts val="0"/>
                </a:spcBef>
                <a:spcAft>
                  <a:spcPts val="0"/>
                </a:spcAft>
                <a:buClr>
                  <a:schemeClr val="lt1"/>
                </a:buClr>
                <a:buSzPts val="1500"/>
                <a:buFont typeface="Century Gothic"/>
                <a:buNone/>
              </a:pPr>
              <a:r>
                <a:rPr b="1" i="1" lang="en-US" sz="1500" u="none" cap="none" strike="noStrike">
                  <a:solidFill>
                    <a:schemeClr val="lt1"/>
                  </a:solidFill>
                  <a:latin typeface="Century Gothic"/>
                  <a:ea typeface="Century Gothic"/>
                  <a:cs typeface="Century Gothic"/>
                  <a:sym typeface="Century Gothic"/>
                </a:rPr>
                <a:t>“Counselling, physically helping them to grip objects and use them.    Massaging the hands and fingers, use of some sensory stimuli such as sandpaper to improve the grasping power.  These help in improving this condition to some level.”</a:t>
              </a:r>
              <a:endParaRPr b="0" i="1" sz="1500" u="none" cap="none" strike="noStrike">
                <a:solidFill>
                  <a:schemeClr val="lt1"/>
                </a:solidFill>
                <a:latin typeface="Century Gothic"/>
                <a:ea typeface="Century Gothic"/>
                <a:cs typeface="Century Gothic"/>
                <a:sym typeface="Century Gothic"/>
              </a:endParaRPr>
            </a:p>
          </p:txBody>
        </p:sp>
        <p:sp>
          <p:nvSpPr>
            <p:cNvPr id="450" name="Google Shape;450;p18"/>
            <p:cNvSpPr/>
            <p:nvPr/>
          </p:nvSpPr>
          <p:spPr>
            <a:xfrm>
              <a:off x="4634465" y="2205"/>
              <a:ext cx="3223900" cy="1934340"/>
            </a:xfrm>
            <a:prstGeom prst="rect">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8"/>
            <p:cNvSpPr txBox="1"/>
            <p:nvPr/>
          </p:nvSpPr>
          <p:spPr>
            <a:xfrm>
              <a:off x="4634465" y="2205"/>
              <a:ext cx="3223900" cy="1934340"/>
            </a:xfrm>
            <a:prstGeom prst="rect">
              <a:avLst/>
            </a:prstGeom>
            <a:noFill/>
            <a:ln>
              <a:noFill/>
            </a:ln>
          </p:spPr>
          <p:txBody>
            <a:bodyPr anchorCtr="0" anchor="ctr" bIns="57150" lIns="57150" spcFirstLastPara="1" rIns="57150" wrap="square" tIns="57150">
              <a:noAutofit/>
            </a:bodyPr>
            <a:lstStyle/>
            <a:p>
              <a:pPr indent="0" lvl="0" marL="0" marR="0" rtl="0" algn="ctr">
                <a:lnSpc>
                  <a:spcPct val="90000"/>
                </a:lnSpc>
                <a:spcBef>
                  <a:spcPts val="0"/>
                </a:spcBef>
                <a:spcAft>
                  <a:spcPts val="0"/>
                </a:spcAft>
                <a:buClr>
                  <a:schemeClr val="lt1"/>
                </a:buClr>
                <a:buSzPts val="1500"/>
                <a:buFont typeface="Century Gothic"/>
                <a:buNone/>
              </a:pPr>
              <a:r>
                <a:rPr b="1" i="1" lang="en-US" sz="1500" u="none" cap="none" strike="noStrike">
                  <a:solidFill>
                    <a:schemeClr val="lt1"/>
                  </a:solidFill>
                  <a:latin typeface="Century Gothic"/>
                  <a:ea typeface="Century Gothic"/>
                  <a:cs typeface="Century Gothic"/>
                  <a:sym typeface="Century Gothic"/>
                </a:rPr>
                <a:t>“Lifelong support”</a:t>
              </a:r>
              <a:endParaRPr b="0" i="1" sz="1500" u="none" cap="none" strike="noStrike">
                <a:solidFill>
                  <a:schemeClr val="lt1"/>
                </a:solidFill>
                <a:latin typeface="Century Gothic"/>
                <a:ea typeface="Century Gothic"/>
                <a:cs typeface="Century Gothic"/>
                <a:sym typeface="Century Gothic"/>
              </a:endParaRPr>
            </a:p>
          </p:txBody>
        </p:sp>
        <p:sp>
          <p:nvSpPr>
            <p:cNvPr id="452" name="Google Shape;452;p18"/>
            <p:cNvSpPr/>
            <p:nvPr/>
          </p:nvSpPr>
          <p:spPr>
            <a:xfrm>
              <a:off x="1088175" y="2258935"/>
              <a:ext cx="3223900" cy="1934340"/>
            </a:xfrm>
            <a:prstGeom prst="rect">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8"/>
            <p:cNvSpPr txBox="1"/>
            <p:nvPr/>
          </p:nvSpPr>
          <p:spPr>
            <a:xfrm>
              <a:off x="1088175" y="2258935"/>
              <a:ext cx="3223900" cy="1934340"/>
            </a:xfrm>
            <a:prstGeom prst="rect">
              <a:avLst/>
            </a:prstGeom>
            <a:noFill/>
            <a:ln>
              <a:noFill/>
            </a:ln>
          </p:spPr>
          <p:txBody>
            <a:bodyPr anchorCtr="0" anchor="ctr" bIns="57150" lIns="57150" spcFirstLastPara="1" rIns="57150" wrap="square" tIns="57150">
              <a:noAutofit/>
            </a:bodyPr>
            <a:lstStyle/>
            <a:p>
              <a:pPr indent="0" lvl="0" marL="0" marR="0" rtl="0" algn="ctr">
                <a:lnSpc>
                  <a:spcPct val="90000"/>
                </a:lnSpc>
                <a:spcBef>
                  <a:spcPts val="0"/>
                </a:spcBef>
                <a:spcAft>
                  <a:spcPts val="0"/>
                </a:spcAft>
                <a:buClr>
                  <a:schemeClr val="lt1"/>
                </a:buClr>
                <a:buSzPts val="1500"/>
                <a:buFont typeface="Century Gothic"/>
                <a:buNone/>
              </a:pPr>
              <a:r>
                <a:rPr b="1" i="1" lang="en-US" sz="1500" u="none" cap="none" strike="noStrike">
                  <a:solidFill>
                    <a:schemeClr val="lt1"/>
                  </a:solidFill>
                  <a:latin typeface="Century Gothic"/>
                  <a:ea typeface="Century Gothic"/>
                  <a:cs typeface="Century Gothic"/>
                  <a:sym typeface="Century Gothic"/>
                </a:rPr>
                <a:t>“Audio visual aids help the children understand topics and instructions in a better and easier way.” </a:t>
              </a:r>
              <a:endParaRPr b="0" i="1" sz="1500" u="none" cap="none" strike="noStrike">
                <a:solidFill>
                  <a:schemeClr val="lt1"/>
                </a:solidFill>
                <a:latin typeface="Century Gothic"/>
                <a:ea typeface="Century Gothic"/>
                <a:cs typeface="Century Gothic"/>
                <a:sym typeface="Century Gothic"/>
              </a:endParaRPr>
            </a:p>
          </p:txBody>
        </p:sp>
        <p:sp>
          <p:nvSpPr>
            <p:cNvPr id="454" name="Google Shape;454;p18"/>
            <p:cNvSpPr/>
            <p:nvPr/>
          </p:nvSpPr>
          <p:spPr>
            <a:xfrm>
              <a:off x="4634465" y="2258935"/>
              <a:ext cx="3223900" cy="1934340"/>
            </a:xfrm>
            <a:prstGeom prst="rect">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8"/>
            <p:cNvSpPr txBox="1"/>
            <p:nvPr/>
          </p:nvSpPr>
          <p:spPr>
            <a:xfrm>
              <a:off x="4634465" y="2258935"/>
              <a:ext cx="3223900" cy="1934340"/>
            </a:xfrm>
            <a:prstGeom prst="rect">
              <a:avLst/>
            </a:prstGeom>
            <a:noFill/>
            <a:ln>
              <a:noFill/>
            </a:ln>
          </p:spPr>
          <p:txBody>
            <a:bodyPr anchorCtr="0" anchor="ctr" bIns="57150" lIns="57150" spcFirstLastPara="1" rIns="57150" wrap="square" tIns="5715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1" i="0" sz="15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9" name="Shape 459"/>
        <p:cNvGrpSpPr/>
        <p:nvPr/>
      </p:nvGrpSpPr>
      <p:grpSpPr>
        <a:xfrm>
          <a:off x="0" y="0"/>
          <a:ext cx="0" cy="0"/>
          <a:chOff x="0" y="0"/>
          <a:chExt cx="0" cy="0"/>
        </a:xfrm>
      </p:grpSpPr>
      <p:sp>
        <p:nvSpPr>
          <p:cNvPr id="460" name="Google Shape;460;p1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lt2"/>
              </a:buClr>
              <a:buSzPct val="100000"/>
              <a:buFont typeface="Century Gothic"/>
              <a:buNone/>
            </a:pPr>
            <a:r>
              <a:rPr lang="en-US" sz="2500"/>
              <a:t>Questions asked</a:t>
            </a:r>
            <a:br>
              <a:rPr lang="en-US" sz="2500"/>
            </a:br>
            <a:br>
              <a:rPr lang="en-US" sz="2300"/>
            </a:br>
            <a:r>
              <a:rPr b="1" lang="en-US" sz="2300"/>
              <a:t>How can a robotic hand would meet the contrast of attraction between a kid with autism and a toy, what makes it more attractive for the kid to work on it?</a:t>
            </a:r>
            <a:endParaRPr sz="2300"/>
          </a:p>
        </p:txBody>
      </p:sp>
      <p:sp>
        <p:nvSpPr>
          <p:cNvPr id="461" name="Google Shape;461;p19"/>
          <p:cNvSpPr/>
          <p:nvPr/>
        </p:nvSpPr>
        <p:spPr>
          <a:xfrm>
            <a:off x="10442448"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2" name="Google Shape;462;p19"/>
          <p:cNvGrpSpPr/>
          <p:nvPr/>
        </p:nvGrpSpPr>
        <p:grpSpPr>
          <a:xfrm>
            <a:off x="1103312" y="2333392"/>
            <a:ext cx="8946540" cy="3634532"/>
            <a:chOff x="0" y="280474"/>
            <a:chExt cx="8946540" cy="3634532"/>
          </a:xfrm>
        </p:grpSpPr>
        <p:sp>
          <p:nvSpPr>
            <p:cNvPr id="463" name="Google Shape;463;p19"/>
            <p:cNvSpPr/>
            <p:nvPr/>
          </p:nvSpPr>
          <p:spPr>
            <a:xfrm>
              <a:off x="0" y="280474"/>
              <a:ext cx="2795794" cy="1677476"/>
            </a:xfrm>
            <a:prstGeom prst="rect">
              <a:avLst/>
            </a:prstGeom>
            <a:solidFill>
              <a:srgbClr val="E96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9"/>
            <p:cNvSpPr txBox="1"/>
            <p:nvPr/>
          </p:nvSpPr>
          <p:spPr>
            <a:xfrm>
              <a:off x="0" y="280474"/>
              <a:ext cx="2795794" cy="1677476"/>
            </a:xfrm>
            <a:prstGeom prst="rect">
              <a:avLst/>
            </a:prstGeom>
            <a:noFill/>
            <a:ln>
              <a:noFill/>
            </a:ln>
          </p:spPr>
          <p:txBody>
            <a:bodyPr anchorCtr="0" anchor="ctr" bIns="49525" lIns="49525" spcFirstLastPara="1" rIns="49525" wrap="square" tIns="49525">
              <a:noAutofit/>
            </a:bodyPr>
            <a:lstStyle/>
            <a:p>
              <a:pPr indent="0" lvl="0" marL="0" marR="0" rtl="0" algn="ctr">
                <a:lnSpc>
                  <a:spcPct val="90000"/>
                </a:lnSpc>
                <a:spcBef>
                  <a:spcPts val="0"/>
                </a:spcBef>
                <a:spcAft>
                  <a:spcPts val="0"/>
                </a:spcAft>
                <a:buClr>
                  <a:schemeClr val="lt1"/>
                </a:buClr>
                <a:buSzPts val="1300"/>
                <a:buFont typeface="Century Gothic"/>
                <a:buNone/>
              </a:pPr>
              <a:r>
                <a:rPr b="1" i="1" lang="en-US" sz="1300" u="none" cap="none" strike="noStrike">
                  <a:solidFill>
                    <a:schemeClr val="lt1"/>
                  </a:solidFill>
                  <a:latin typeface="Century Gothic"/>
                  <a:ea typeface="Century Gothic"/>
                  <a:cs typeface="Century Gothic"/>
                  <a:sym typeface="Century Gothic"/>
                </a:rPr>
                <a:t>“The things to be kept in mind while making the TML (teaching learning material) is that it should be low cost and sturdy device. It should be visually appealing with the use of audio, if possible, to grow interest among the autistic kids. Inputting audio aid(music)”</a:t>
              </a:r>
              <a:endParaRPr b="0" i="1" sz="1300" u="none" cap="none" strike="noStrike">
                <a:solidFill>
                  <a:schemeClr val="lt1"/>
                </a:solidFill>
                <a:latin typeface="Century Gothic"/>
                <a:ea typeface="Century Gothic"/>
                <a:cs typeface="Century Gothic"/>
                <a:sym typeface="Century Gothic"/>
              </a:endParaRPr>
            </a:p>
          </p:txBody>
        </p:sp>
        <p:sp>
          <p:nvSpPr>
            <p:cNvPr id="465" name="Google Shape;465;p19"/>
            <p:cNvSpPr/>
            <p:nvPr/>
          </p:nvSpPr>
          <p:spPr>
            <a:xfrm>
              <a:off x="3075373" y="280474"/>
              <a:ext cx="2795794" cy="1677476"/>
            </a:xfrm>
            <a:prstGeom prst="rect">
              <a:avLst/>
            </a:prstGeom>
            <a:solidFill>
              <a:srgbClr val="EB791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9"/>
            <p:cNvSpPr txBox="1"/>
            <p:nvPr/>
          </p:nvSpPr>
          <p:spPr>
            <a:xfrm>
              <a:off x="3075373" y="280474"/>
              <a:ext cx="2795794" cy="1677476"/>
            </a:xfrm>
            <a:prstGeom prst="rect">
              <a:avLst/>
            </a:prstGeom>
            <a:noFill/>
            <a:ln>
              <a:noFill/>
            </a:ln>
          </p:spPr>
          <p:txBody>
            <a:bodyPr anchorCtr="0" anchor="ctr" bIns="49525" lIns="49525" spcFirstLastPara="1" rIns="49525" wrap="square" tIns="49525">
              <a:noAutofit/>
            </a:bodyPr>
            <a:lstStyle/>
            <a:p>
              <a:pPr indent="0" lvl="0" marL="0" marR="0" rtl="0" algn="ctr">
                <a:lnSpc>
                  <a:spcPct val="90000"/>
                </a:lnSpc>
                <a:spcBef>
                  <a:spcPts val="0"/>
                </a:spcBef>
                <a:spcAft>
                  <a:spcPts val="0"/>
                </a:spcAft>
                <a:buClr>
                  <a:schemeClr val="lt1"/>
                </a:buClr>
                <a:buSzPts val="1300"/>
                <a:buFont typeface="Century Gothic"/>
                <a:buNone/>
              </a:pPr>
              <a:r>
                <a:rPr b="1" i="1" lang="en-US" sz="1300" u="none" cap="none" strike="noStrike">
                  <a:solidFill>
                    <a:schemeClr val="lt1"/>
                  </a:solidFill>
                  <a:latin typeface="Century Gothic"/>
                  <a:ea typeface="Century Gothic"/>
                  <a:cs typeface="Century Gothic"/>
                  <a:sym typeface="Century Gothic"/>
                </a:rPr>
                <a:t>“Visually appealing, with lights and colours would be interesting for these children. (Very important for their eye contact) </a:t>
              </a:r>
              <a:endParaRPr b="0" i="1" sz="1300" u="none" cap="none" strike="noStrike">
                <a:solidFill>
                  <a:schemeClr val="lt1"/>
                </a:solidFill>
                <a:latin typeface="Century Gothic"/>
                <a:ea typeface="Century Gothic"/>
                <a:cs typeface="Century Gothic"/>
                <a:sym typeface="Century Gothic"/>
              </a:endParaRPr>
            </a:p>
          </p:txBody>
        </p:sp>
        <p:sp>
          <p:nvSpPr>
            <p:cNvPr id="467" name="Google Shape;467;p19"/>
            <p:cNvSpPr/>
            <p:nvPr/>
          </p:nvSpPr>
          <p:spPr>
            <a:xfrm>
              <a:off x="6150746" y="280474"/>
              <a:ext cx="2795794" cy="1677476"/>
            </a:xfrm>
            <a:prstGeom prst="rect">
              <a:avLst/>
            </a:prstGeom>
            <a:solidFill>
              <a:srgbClr val="E98E19"/>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9"/>
            <p:cNvSpPr txBox="1"/>
            <p:nvPr/>
          </p:nvSpPr>
          <p:spPr>
            <a:xfrm>
              <a:off x="6150746" y="280474"/>
              <a:ext cx="2795794" cy="1677476"/>
            </a:xfrm>
            <a:prstGeom prst="rect">
              <a:avLst/>
            </a:prstGeom>
            <a:noFill/>
            <a:ln>
              <a:noFill/>
            </a:ln>
          </p:spPr>
          <p:txBody>
            <a:bodyPr anchorCtr="0" anchor="ctr" bIns="49525" lIns="49525" spcFirstLastPara="1" rIns="49525" wrap="square" tIns="49525">
              <a:noAutofit/>
            </a:bodyPr>
            <a:lstStyle/>
            <a:p>
              <a:pPr indent="0" lvl="0" marL="0" marR="0" rtl="0" algn="ctr">
                <a:lnSpc>
                  <a:spcPct val="90000"/>
                </a:lnSpc>
                <a:spcBef>
                  <a:spcPts val="0"/>
                </a:spcBef>
                <a:spcAft>
                  <a:spcPts val="0"/>
                </a:spcAft>
                <a:buClr>
                  <a:schemeClr val="lt1"/>
                </a:buClr>
                <a:buSzPts val="1300"/>
                <a:buFont typeface="Century Gothic"/>
                <a:buNone/>
              </a:pPr>
              <a:r>
                <a:rPr b="1" i="1" lang="en-US" sz="1300" u="none" cap="none" strike="noStrike">
                  <a:solidFill>
                    <a:schemeClr val="lt1"/>
                  </a:solidFill>
                  <a:latin typeface="Century Gothic"/>
                  <a:ea typeface="Century Gothic"/>
                  <a:cs typeface="Century Gothic"/>
                  <a:sym typeface="Century Gothic"/>
                </a:rPr>
                <a:t>These kids are sensitive towards touch, hence adding different textures (soft texture, rough texture) for them to feel/touch would help them get fascinated and interested.”</a:t>
              </a:r>
              <a:endParaRPr b="0" i="0" sz="1300" u="none" cap="none" strike="noStrike">
                <a:solidFill>
                  <a:schemeClr val="lt1"/>
                </a:solidFill>
                <a:latin typeface="Century Gothic"/>
                <a:ea typeface="Century Gothic"/>
                <a:cs typeface="Century Gothic"/>
                <a:sym typeface="Century Gothic"/>
              </a:endParaRPr>
            </a:p>
          </p:txBody>
        </p:sp>
        <p:sp>
          <p:nvSpPr>
            <p:cNvPr id="469" name="Google Shape;469;p19"/>
            <p:cNvSpPr/>
            <p:nvPr/>
          </p:nvSpPr>
          <p:spPr>
            <a:xfrm>
              <a:off x="1537686" y="2237530"/>
              <a:ext cx="2795794" cy="1677476"/>
            </a:xfrm>
            <a:prstGeom prst="rect">
              <a:avLst/>
            </a:prstGeom>
            <a:solidFill>
              <a:srgbClr val="E8A31F"/>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9"/>
            <p:cNvSpPr txBox="1"/>
            <p:nvPr/>
          </p:nvSpPr>
          <p:spPr>
            <a:xfrm>
              <a:off x="1537686" y="2237530"/>
              <a:ext cx="2795794" cy="1677476"/>
            </a:xfrm>
            <a:prstGeom prst="rect">
              <a:avLst/>
            </a:prstGeom>
            <a:noFill/>
            <a:ln>
              <a:noFill/>
            </a:ln>
          </p:spPr>
          <p:txBody>
            <a:bodyPr anchorCtr="0" anchor="ctr" bIns="49525" lIns="49525" spcFirstLastPara="1" rIns="49525" wrap="square" tIns="49525">
              <a:noAutofit/>
            </a:bodyPr>
            <a:lstStyle/>
            <a:p>
              <a:pPr indent="0" lvl="0" marL="0" marR="0" rtl="0" algn="ctr">
                <a:lnSpc>
                  <a:spcPct val="90000"/>
                </a:lnSpc>
                <a:spcBef>
                  <a:spcPts val="0"/>
                </a:spcBef>
                <a:spcAft>
                  <a:spcPts val="0"/>
                </a:spcAft>
                <a:buClr>
                  <a:schemeClr val="lt1"/>
                </a:buClr>
                <a:buSzPts val="1300"/>
                <a:buFont typeface="Century Gothic"/>
                <a:buNone/>
              </a:pPr>
              <a:r>
                <a:rPr b="1" i="1" lang="en-US" sz="1300" u="none" cap="none" strike="noStrike">
                  <a:solidFill>
                    <a:schemeClr val="lt1"/>
                  </a:solidFill>
                  <a:latin typeface="Century Gothic"/>
                  <a:ea typeface="Century Gothic"/>
                  <a:cs typeface="Century Gothic"/>
                  <a:sym typeface="Century Gothic"/>
                </a:rPr>
                <a:t>“Visual inputs such as lighting in the device can be interesting to them.  Also using audio can help them understand and find it interesting.”</a:t>
              </a:r>
              <a:endParaRPr b="0" i="0" sz="1300" u="none" cap="none" strike="noStrike">
                <a:solidFill>
                  <a:schemeClr val="lt1"/>
                </a:solidFill>
                <a:latin typeface="Century Gothic"/>
                <a:ea typeface="Century Gothic"/>
                <a:cs typeface="Century Gothic"/>
                <a:sym typeface="Century Gothic"/>
              </a:endParaRPr>
            </a:p>
          </p:txBody>
        </p:sp>
        <p:sp>
          <p:nvSpPr>
            <p:cNvPr id="471" name="Google Shape;471;p19"/>
            <p:cNvSpPr/>
            <p:nvPr/>
          </p:nvSpPr>
          <p:spPr>
            <a:xfrm>
              <a:off x="4613060" y="2237530"/>
              <a:ext cx="2795794" cy="1677476"/>
            </a:xfrm>
            <a:prstGeom prst="rect">
              <a:avLst/>
            </a:prstGeom>
            <a:solidFill>
              <a:srgbClr val="E6B626"/>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9"/>
            <p:cNvSpPr txBox="1"/>
            <p:nvPr/>
          </p:nvSpPr>
          <p:spPr>
            <a:xfrm>
              <a:off x="4613060" y="2237530"/>
              <a:ext cx="2795794" cy="1677476"/>
            </a:xfrm>
            <a:prstGeom prst="rect">
              <a:avLst/>
            </a:prstGeom>
            <a:noFill/>
            <a:ln>
              <a:noFill/>
            </a:ln>
          </p:spPr>
          <p:txBody>
            <a:bodyPr anchorCtr="0" anchor="ctr" bIns="49525" lIns="49525" spcFirstLastPara="1" rIns="49525" wrap="square" tIns="49525">
              <a:noAutofit/>
            </a:bodyPr>
            <a:lstStyle/>
            <a:p>
              <a:pPr indent="0" lvl="0" marL="0" marR="0" rtl="0" algn="ctr">
                <a:lnSpc>
                  <a:spcPct val="90000"/>
                </a:lnSpc>
                <a:spcBef>
                  <a:spcPts val="0"/>
                </a:spcBef>
                <a:spcAft>
                  <a:spcPts val="0"/>
                </a:spcAft>
                <a:buClr>
                  <a:schemeClr val="lt1"/>
                </a:buClr>
                <a:buSzPts val="1300"/>
                <a:buFont typeface="Century Gothic"/>
                <a:buNone/>
              </a:pPr>
              <a:r>
                <a:t/>
              </a:r>
              <a:endParaRPr b="1" i="0" sz="13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6" name="Shape 476"/>
        <p:cNvGrpSpPr/>
        <p:nvPr/>
      </p:nvGrpSpPr>
      <p:grpSpPr>
        <a:xfrm>
          <a:off x="0" y="0"/>
          <a:ext cx="0" cy="0"/>
          <a:chOff x="0" y="0"/>
          <a:chExt cx="0" cy="0"/>
        </a:xfrm>
      </p:grpSpPr>
      <p:sp>
        <p:nvSpPr>
          <p:cNvPr id="477" name="Google Shape;477;p20"/>
          <p:cNvSpPr/>
          <p:nvPr/>
        </p:nvSpPr>
        <p:spPr>
          <a:xfrm>
            <a:off x="-1" y="0"/>
            <a:ext cx="465331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2"/>
              </a:solidFill>
              <a:latin typeface="Century Gothic"/>
              <a:ea typeface="Century Gothic"/>
              <a:cs typeface="Century Gothic"/>
              <a:sym typeface="Century Gothic"/>
            </a:endParaRPr>
          </a:p>
        </p:txBody>
      </p:sp>
      <p:sp>
        <p:nvSpPr>
          <p:cNvPr id="478" name="Google Shape;478;p20"/>
          <p:cNvSpPr txBox="1"/>
          <p:nvPr>
            <p:ph type="title"/>
          </p:nvPr>
        </p:nvSpPr>
        <p:spPr>
          <a:xfrm>
            <a:off x="646111" y="690879"/>
            <a:ext cx="3682049" cy="5557519"/>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rgbClr val="FFFFFF"/>
              </a:buClr>
              <a:buSzPct val="100000"/>
              <a:buFont typeface="Century Gothic"/>
              <a:buNone/>
            </a:pPr>
            <a:r>
              <a:rPr lang="en-US" sz="2400">
                <a:solidFill>
                  <a:srgbClr val="FFFFFF"/>
                </a:solidFill>
              </a:rPr>
              <a:t>A</a:t>
            </a:r>
            <a:br>
              <a:rPr lang="en-US" sz="2400"/>
            </a:br>
            <a:r>
              <a:rPr lang="en-US" sz="2400">
                <a:solidFill>
                  <a:srgbClr val="FFFFFF"/>
                </a:solidFill>
              </a:rPr>
              <a:t>C</a:t>
            </a:r>
            <a:br>
              <a:rPr lang="en-US" sz="2400"/>
            </a:br>
            <a:r>
              <a:rPr lang="en-US" sz="2400">
                <a:solidFill>
                  <a:srgbClr val="FFFFFF"/>
                </a:solidFill>
              </a:rPr>
              <a:t>K</a:t>
            </a:r>
            <a:br>
              <a:rPr lang="en-US" sz="2400"/>
            </a:br>
            <a:r>
              <a:rPr lang="en-US" sz="2400">
                <a:solidFill>
                  <a:srgbClr val="FFFFFF"/>
                </a:solidFill>
              </a:rPr>
              <a:t>N</a:t>
            </a:r>
            <a:br>
              <a:rPr lang="en-US" sz="2400"/>
            </a:br>
            <a:r>
              <a:rPr lang="en-US" sz="2400">
                <a:solidFill>
                  <a:srgbClr val="FFFFFF"/>
                </a:solidFill>
              </a:rPr>
              <a:t>O</a:t>
            </a:r>
            <a:br>
              <a:rPr lang="en-US" sz="2400">
                <a:solidFill>
                  <a:srgbClr val="FFFFFF"/>
                </a:solidFill>
              </a:rPr>
            </a:br>
            <a:r>
              <a:rPr lang="en-US" sz="2400">
                <a:solidFill>
                  <a:srgbClr val="FFFFFF"/>
                </a:solidFill>
              </a:rPr>
              <a:t>W</a:t>
            </a:r>
            <a:br>
              <a:rPr lang="en-US" sz="2400"/>
            </a:br>
            <a:r>
              <a:rPr lang="en-US" sz="2400">
                <a:solidFill>
                  <a:srgbClr val="FFFFFF"/>
                </a:solidFill>
              </a:rPr>
              <a:t>L</a:t>
            </a:r>
            <a:br>
              <a:rPr lang="en-US" sz="2400"/>
            </a:br>
            <a:r>
              <a:rPr lang="en-US" sz="2400">
                <a:solidFill>
                  <a:srgbClr val="FFFFFF"/>
                </a:solidFill>
              </a:rPr>
              <a:t>E</a:t>
            </a:r>
            <a:br>
              <a:rPr lang="en-US" sz="2400"/>
            </a:br>
            <a:r>
              <a:rPr lang="en-US" sz="2400">
                <a:solidFill>
                  <a:srgbClr val="FFFFFF"/>
                </a:solidFill>
              </a:rPr>
              <a:t>D</a:t>
            </a:r>
            <a:br>
              <a:rPr lang="en-US" sz="2400"/>
            </a:br>
            <a:r>
              <a:rPr lang="en-US" sz="2400">
                <a:solidFill>
                  <a:srgbClr val="FFFFFF"/>
                </a:solidFill>
              </a:rPr>
              <a:t>G</a:t>
            </a:r>
            <a:br>
              <a:rPr lang="en-US" sz="2400"/>
            </a:br>
            <a:r>
              <a:rPr lang="en-US" sz="2400">
                <a:solidFill>
                  <a:srgbClr val="FFFFFF"/>
                </a:solidFill>
              </a:rPr>
              <a:t>E</a:t>
            </a:r>
            <a:br>
              <a:rPr lang="en-US" sz="2400"/>
            </a:br>
            <a:r>
              <a:rPr lang="en-US" sz="2400">
                <a:solidFill>
                  <a:srgbClr val="FFFFFF"/>
                </a:solidFill>
              </a:rPr>
              <a:t>M</a:t>
            </a:r>
            <a:br>
              <a:rPr lang="en-US" sz="2400"/>
            </a:br>
            <a:r>
              <a:rPr lang="en-US" sz="2400">
                <a:solidFill>
                  <a:srgbClr val="FFFFFF"/>
                </a:solidFill>
              </a:rPr>
              <a:t>E</a:t>
            </a:r>
            <a:br>
              <a:rPr lang="en-US" sz="2400"/>
            </a:br>
            <a:r>
              <a:rPr lang="en-US" sz="2400">
                <a:solidFill>
                  <a:srgbClr val="FFFFFF"/>
                </a:solidFill>
              </a:rPr>
              <a:t>N</a:t>
            </a:r>
            <a:br>
              <a:rPr lang="en-US" sz="2400"/>
            </a:br>
            <a:r>
              <a:rPr lang="en-US" sz="2400">
                <a:solidFill>
                  <a:srgbClr val="FFFFFF"/>
                </a:solidFill>
              </a:rPr>
              <a:t>T</a:t>
            </a:r>
            <a:endParaRPr/>
          </a:p>
        </p:txBody>
      </p:sp>
      <p:sp>
        <p:nvSpPr>
          <p:cNvPr id="479" name="Google Shape;479;p20"/>
          <p:cNvSpPr txBox="1"/>
          <p:nvPr>
            <p:ph idx="1" type="body"/>
          </p:nvPr>
        </p:nvSpPr>
        <p:spPr>
          <a:xfrm>
            <a:off x="5101999" y="690880"/>
            <a:ext cx="4947854" cy="5557519"/>
          </a:xfrm>
          <a:prstGeom prst="rect">
            <a:avLst/>
          </a:prstGeom>
          <a:noFill/>
          <a:ln>
            <a:noFill/>
          </a:ln>
        </p:spPr>
        <p:txBody>
          <a:bodyPr anchorCtr="0" anchor="ctr" bIns="45700" lIns="91425" spcFirstLastPara="1" rIns="91425" wrap="square" tIns="45700">
            <a:normAutofit/>
          </a:bodyPr>
          <a:lstStyle/>
          <a:p>
            <a:pPr indent="-342900" lvl="0" marL="342900" rtl="0" algn="l">
              <a:spcBef>
                <a:spcPts val="0"/>
              </a:spcBef>
              <a:spcAft>
                <a:spcPts val="0"/>
              </a:spcAft>
              <a:buSzPts val="1600"/>
              <a:buChar char="►"/>
            </a:pPr>
            <a:r>
              <a:rPr lang="en-US"/>
              <a:t>We specially thank, Nilanjana Rambothu , Founder and Director of Sunshine Autism Care and consultant RCI holder in Special education (ASD) , for the time she has contributed on this project.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83" name="Shape 483"/>
        <p:cNvGrpSpPr/>
        <p:nvPr/>
      </p:nvGrpSpPr>
      <p:grpSpPr>
        <a:xfrm>
          <a:off x="0" y="0"/>
          <a:ext cx="0" cy="0"/>
          <a:chOff x="0" y="0"/>
          <a:chExt cx="0" cy="0"/>
        </a:xfrm>
      </p:grpSpPr>
      <p:sp>
        <p:nvSpPr>
          <p:cNvPr id="484" name="Google Shape;484;p21"/>
          <p:cNvSpPr txBox="1"/>
          <p:nvPr>
            <p:ph type="title"/>
          </p:nvPr>
        </p:nvSpPr>
        <p:spPr>
          <a:xfrm>
            <a:off x="648930" y="629266"/>
            <a:ext cx="9252154" cy="12239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GRAPHICAL ANALYSIS</a:t>
            </a:r>
            <a:endParaRPr/>
          </a:p>
        </p:txBody>
      </p:sp>
      <p:pic>
        <p:nvPicPr>
          <p:cNvPr descr="Chart, histogram&#10;&#10;Description automatically generated" id="485" name="Google Shape;485;p21"/>
          <p:cNvPicPr preferRelativeResize="0"/>
          <p:nvPr/>
        </p:nvPicPr>
        <p:blipFill rotWithShape="1">
          <a:blip r:embed="rId3">
            <a:alphaModFix/>
          </a:blip>
          <a:srcRect b="2" l="13415" r="12372" t="0"/>
          <a:stretch/>
        </p:blipFill>
        <p:spPr>
          <a:xfrm>
            <a:off x="636915" y="2231197"/>
            <a:ext cx="5451627" cy="3838217"/>
          </a:xfrm>
          <a:prstGeom prst="rect">
            <a:avLst/>
          </a:prstGeom>
          <a:noFill/>
          <a:ln>
            <a:noFill/>
          </a:ln>
          <a:effectLst>
            <a:outerShdw blurRad="50800" rotWithShape="0" algn="t" dir="5400000" dist="38100">
              <a:srgbClr val="000000">
                <a:alpha val="42745"/>
              </a:srgbClr>
            </a:outerShdw>
          </a:effectLst>
        </p:spPr>
      </p:pic>
      <p:sp>
        <p:nvSpPr>
          <p:cNvPr id="486" name="Google Shape;486;p21"/>
          <p:cNvSpPr txBox="1"/>
          <p:nvPr>
            <p:ph idx="1" type="body"/>
          </p:nvPr>
        </p:nvSpPr>
        <p:spPr>
          <a:xfrm>
            <a:off x="6575729" y="2052214"/>
            <a:ext cx="4415293" cy="419618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Trends over time in the number of children with autism according to the IDEA.</a:t>
            </a:r>
            <a:endParaRPr/>
          </a:p>
          <a:p>
            <a:pPr indent="-241300" lvl="0" marL="342900" rtl="0" algn="l">
              <a:spcBef>
                <a:spcPts val="1000"/>
              </a:spcBef>
              <a:spcAft>
                <a:spcPts val="0"/>
              </a:spcAft>
              <a:buClr>
                <a:srgbClr val="F7F7F7"/>
              </a:buClr>
              <a:buSzPts val="16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0" name="Shape 490"/>
        <p:cNvGrpSpPr/>
        <p:nvPr/>
      </p:nvGrpSpPr>
      <p:grpSpPr>
        <a:xfrm>
          <a:off x="0" y="0"/>
          <a:ext cx="0" cy="0"/>
          <a:chOff x="0" y="0"/>
          <a:chExt cx="0" cy="0"/>
        </a:xfrm>
      </p:grpSpPr>
      <p:sp>
        <p:nvSpPr>
          <p:cNvPr id="491" name="Google Shape;491;p22"/>
          <p:cNvSpPr txBox="1"/>
          <p:nvPr>
            <p:ph type="title"/>
          </p:nvPr>
        </p:nvSpPr>
        <p:spPr>
          <a:xfrm>
            <a:off x="648930" y="629266"/>
            <a:ext cx="9252154" cy="12239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GRAPHICAL ANALYSIS</a:t>
            </a:r>
            <a:endParaRPr/>
          </a:p>
        </p:txBody>
      </p:sp>
      <p:pic>
        <p:nvPicPr>
          <p:cNvPr descr="Chart, line chart, histogram&#10;&#10;Description automatically generated" id="492" name="Google Shape;492;p22"/>
          <p:cNvPicPr preferRelativeResize="0"/>
          <p:nvPr/>
        </p:nvPicPr>
        <p:blipFill rotWithShape="1">
          <a:blip r:embed="rId3">
            <a:alphaModFix/>
          </a:blip>
          <a:srcRect b="0" l="0" r="0" t="0"/>
          <a:stretch/>
        </p:blipFill>
        <p:spPr>
          <a:xfrm>
            <a:off x="636915" y="2133203"/>
            <a:ext cx="5451627" cy="4034204"/>
          </a:xfrm>
          <a:prstGeom prst="rect">
            <a:avLst/>
          </a:prstGeom>
          <a:noFill/>
          <a:ln>
            <a:noFill/>
          </a:ln>
          <a:effectLst>
            <a:outerShdw blurRad="50800" rotWithShape="0" algn="t" dir="5400000" dist="38100">
              <a:srgbClr val="000000">
                <a:alpha val="42745"/>
              </a:srgbClr>
            </a:outerShdw>
          </a:effectLst>
        </p:spPr>
      </p:pic>
      <p:sp>
        <p:nvSpPr>
          <p:cNvPr id="493" name="Google Shape;493;p22"/>
          <p:cNvSpPr txBox="1"/>
          <p:nvPr>
            <p:ph idx="1" type="body"/>
          </p:nvPr>
        </p:nvSpPr>
        <p:spPr>
          <a:xfrm>
            <a:off x="6575729" y="2052214"/>
            <a:ext cx="4415293" cy="419618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F7F7F7"/>
              </a:buClr>
              <a:buSzPts val="1600"/>
              <a:buChar char="►"/>
            </a:pPr>
            <a:r>
              <a:rPr lang="en-US"/>
              <a:t>Trends over time in the number of children with autism according to the IDEA.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7" name="Shape 497"/>
        <p:cNvGrpSpPr/>
        <p:nvPr/>
      </p:nvGrpSpPr>
      <p:grpSpPr>
        <a:xfrm>
          <a:off x="0" y="0"/>
          <a:ext cx="0" cy="0"/>
          <a:chOff x="0" y="0"/>
          <a:chExt cx="0" cy="0"/>
        </a:xfrm>
      </p:grpSpPr>
      <p:sp>
        <p:nvSpPr>
          <p:cNvPr id="498" name="Google Shape;498;p23"/>
          <p:cNvSpPr txBox="1"/>
          <p:nvPr>
            <p:ph type="title"/>
          </p:nvPr>
        </p:nvSpPr>
        <p:spPr>
          <a:xfrm>
            <a:off x="648930" y="629266"/>
            <a:ext cx="9252154" cy="12239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GRAPHICAL ANALYSIS</a:t>
            </a:r>
            <a:endParaRPr/>
          </a:p>
        </p:txBody>
      </p:sp>
      <p:pic>
        <p:nvPicPr>
          <p:cNvPr descr="Chart, line chart&#10;&#10;Description automatically generated" id="499" name="Google Shape;499;p23"/>
          <p:cNvPicPr preferRelativeResize="0"/>
          <p:nvPr/>
        </p:nvPicPr>
        <p:blipFill rotWithShape="1">
          <a:blip r:embed="rId3">
            <a:alphaModFix/>
          </a:blip>
          <a:srcRect b="0" l="0" r="0" t="0"/>
          <a:stretch/>
        </p:blipFill>
        <p:spPr>
          <a:xfrm>
            <a:off x="459463" y="2055256"/>
            <a:ext cx="6119682" cy="3501167"/>
          </a:xfrm>
          <a:prstGeom prst="rect">
            <a:avLst/>
          </a:prstGeom>
          <a:noFill/>
          <a:ln>
            <a:noFill/>
          </a:ln>
          <a:effectLst>
            <a:outerShdw blurRad="50800" rotWithShape="0" algn="t" dir="5400000" dist="38100">
              <a:srgbClr val="000000">
                <a:alpha val="42745"/>
              </a:srgbClr>
            </a:outerShdw>
          </a:effectLst>
        </p:spPr>
      </p:pic>
      <p:sp>
        <p:nvSpPr>
          <p:cNvPr id="500" name="Google Shape;500;p23"/>
          <p:cNvSpPr txBox="1"/>
          <p:nvPr>
            <p:ph idx="1" type="body"/>
          </p:nvPr>
        </p:nvSpPr>
        <p:spPr>
          <a:xfrm>
            <a:off x="6575729" y="2052214"/>
            <a:ext cx="4415293" cy="419618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Prevalence of autism and parentally reported.</a:t>
            </a:r>
            <a:endParaRPr/>
          </a:p>
          <a:p>
            <a:pPr indent="-241300" lvl="0" marL="342900" rtl="0" algn="l">
              <a:spcBef>
                <a:spcPts val="1000"/>
              </a:spcBef>
              <a:spcAft>
                <a:spcPts val="0"/>
              </a:spcAft>
              <a:buClr>
                <a:srgbClr val="F7F7F7"/>
              </a:buClr>
              <a:buSzPts val="16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4" name="Shape 504"/>
        <p:cNvGrpSpPr/>
        <p:nvPr/>
      </p:nvGrpSpPr>
      <p:grpSpPr>
        <a:xfrm>
          <a:off x="0" y="0"/>
          <a:ext cx="0" cy="0"/>
          <a:chOff x="0" y="0"/>
          <a:chExt cx="0" cy="0"/>
        </a:xfrm>
      </p:grpSpPr>
      <p:sp>
        <p:nvSpPr>
          <p:cNvPr id="505" name="Google Shape;505;p24"/>
          <p:cNvSpPr txBox="1"/>
          <p:nvPr>
            <p:ph type="title"/>
          </p:nvPr>
        </p:nvSpPr>
        <p:spPr>
          <a:xfrm>
            <a:off x="648930" y="629266"/>
            <a:ext cx="9252154" cy="12239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GRAPHICAL ANALYSIS</a:t>
            </a:r>
            <a:endParaRPr/>
          </a:p>
        </p:txBody>
      </p:sp>
      <p:pic>
        <p:nvPicPr>
          <p:cNvPr descr="Chart, bar chart, histogram&#10;&#10;Description automatically generated" id="506" name="Google Shape;506;p24"/>
          <p:cNvPicPr preferRelativeResize="0"/>
          <p:nvPr/>
        </p:nvPicPr>
        <p:blipFill rotWithShape="1">
          <a:blip r:embed="rId3">
            <a:alphaModFix/>
          </a:blip>
          <a:srcRect b="0" l="0" r="0" t="0"/>
          <a:stretch/>
        </p:blipFill>
        <p:spPr>
          <a:xfrm>
            <a:off x="636915" y="2140018"/>
            <a:ext cx="5451627" cy="4020574"/>
          </a:xfrm>
          <a:prstGeom prst="rect">
            <a:avLst/>
          </a:prstGeom>
          <a:noFill/>
          <a:ln>
            <a:noFill/>
          </a:ln>
          <a:effectLst>
            <a:outerShdw blurRad="50800" rotWithShape="0" algn="t" dir="5400000" dist="38100">
              <a:srgbClr val="000000">
                <a:alpha val="42745"/>
              </a:srgbClr>
            </a:outerShdw>
          </a:effectLst>
        </p:spPr>
      </p:pic>
      <p:sp>
        <p:nvSpPr>
          <p:cNvPr id="507" name="Google Shape;507;p24"/>
          <p:cNvSpPr txBox="1"/>
          <p:nvPr>
            <p:ph idx="1" type="body"/>
          </p:nvPr>
        </p:nvSpPr>
        <p:spPr>
          <a:xfrm>
            <a:off x="6575729" y="2052214"/>
            <a:ext cx="4415293" cy="419618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Prevalence of Autism Increases by 10%, to 1 in 54 Children | Southwest Autism Research &amp; Resource Center.</a:t>
            </a:r>
            <a:endParaRPr/>
          </a:p>
          <a:p>
            <a:pPr indent="-241300" lvl="0" marL="342900" rtl="0" algn="l">
              <a:spcBef>
                <a:spcPts val="1000"/>
              </a:spcBef>
              <a:spcAft>
                <a:spcPts val="0"/>
              </a:spcAft>
              <a:buClr>
                <a:srgbClr val="F7F7F7"/>
              </a:buClr>
              <a:buSzPts val="16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1" name="Shape 511"/>
        <p:cNvGrpSpPr/>
        <p:nvPr/>
      </p:nvGrpSpPr>
      <p:grpSpPr>
        <a:xfrm>
          <a:off x="0" y="0"/>
          <a:ext cx="0" cy="0"/>
          <a:chOff x="0" y="0"/>
          <a:chExt cx="0" cy="0"/>
        </a:xfrm>
      </p:grpSpPr>
      <p:sp>
        <p:nvSpPr>
          <p:cNvPr id="512" name="Google Shape;512;p25"/>
          <p:cNvSpPr txBox="1"/>
          <p:nvPr>
            <p:ph type="title"/>
          </p:nvPr>
        </p:nvSpPr>
        <p:spPr>
          <a:xfrm>
            <a:off x="648930" y="629266"/>
            <a:ext cx="9252154" cy="12239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GRAPHICAL ANALYSIS</a:t>
            </a:r>
            <a:endParaRPr/>
          </a:p>
        </p:txBody>
      </p:sp>
      <p:pic>
        <p:nvPicPr>
          <p:cNvPr descr="Chart, bar chart&#10;&#10;Description automatically generated" id="513" name="Google Shape;513;p25"/>
          <p:cNvPicPr preferRelativeResize="0"/>
          <p:nvPr/>
        </p:nvPicPr>
        <p:blipFill rotWithShape="1">
          <a:blip r:embed="rId3">
            <a:alphaModFix/>
          </a:blip>
          <a:srcRect b="0" l="0" r="0" t="0"/>
          <a:stretch/>
        </p:blipFill>
        <p:spPr>
          <a:xfrm>
            <a:off x="636915" y="2548890"/>
            <a:ext cx="5451627" cy="3202830"/>
          </a:xfrm>
          <a:prstGeom prst="rect">
            <a:avLst/>
          </a:prstGeom>
          <a:noFill/>
          <a:ln>
            <a:noFill/>
          </a:ln>
          <a:effectLst>
            <a:outerShdw blurRad="50800" rotWithShape="0" algn="t" dir="5400000" dist="38100">
              <a:srgbClr val="000000">
                <a:alpha val="42745"/>
              </a:srgbClr>
            </a:outerShdw>
          </a:effectLst>
        </p:spPr>
      </p:pic>
      <p:sp>
        <p:nvSpPr>
          <p:cNvPr id="514" name="Google Shape;514;p25"/>
          <p:cNvSpPr txBox="1"/>
          <p:nvPr>
            <p:ph idx="1" type="body"/>
          </p:nvPr>
        </p:nvSpPr>
        <p:spPr>
          <a:xfrm>
            <a:off x="6575729" y="2052214"/>
            <a:ext cx="4415293" cy="419618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Neurotypical Peers are Less Willing to Interact with Those with Autism based on Thin Slice Judgments | Scientific Reports.</a:t>
            </a:r>
            <a:endParaRPr/>
          </a:p>
          <a:p>
            <a:pPr indent="-241300" lvl="0" marL="342900" rtl="0" algn="l">
              <a:spcBef>
                <a:spcPts val="1000"/>
              </a:spcBef>
              <a:spcAft>
                <a:spcPts val="0"/>
              </a:spcAft>
              <a:buClr>
                <a:srgbClr val="F7F7F7"/>
              </a:buClr>
              <a:buSzPts val="16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8" name="Shape 518"/>
        <p:cNvGrpSpPr/>
        <p:nvPr/>
      </p:nvGrpSpPr>
      <p:grpSpPr>
        <a:xfrm>
          <a:off x="0" y="0"/>
          <a:ext cx="0" cy="0"/>
          <a:chOff x="0" y="0"/>
          <a:chExt cx="0" cy="0"/>
        </a:xfrm>
      </p:grpSpPr>
      <p:sp>
        <p:nvSpPr>
          <p:cNvPr id="519" name="Google Shape;519;p26"/>
          <p:cNvSpPr txBox="1"/>
          <p:nvPr>
            <p:ph type="title"/>
          </p:nvPr>
        </p:nvSpPr>
        <p:spPr>
          <a:xfrm>
            <a:off x="648930" y="629266"/>
            <a:ext cx="9252154" cy="12239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GRAPHICAL ANALYSIS</a:t>
            </a:r>
            <a:endParaRPr/>
          </a:p>
        </p:txBody>
      </p:sp>
      <p:pic>
        <p:nvPicPr>
          <p:cNvPr descr="Chart, bar chart&#10;&#10;Description automatically generated" id="520" name="Google Shape;520;p26"/>
          <p:cNvPicPr preferRelativeResize="0"/>
          <p:nvPr/>
        </p:nvPicPr>
        <p:blipFill rotWithShape="1">
          <a:blip r:embed="rId3">
            <a:alphaModFix/>
          </a:blip>
          <a:srcRect b="0" l="0" r="0" t="0"/>
          <a:stretch/>
        </p:blipFill>
        <p:spPr>
          <a:xfrm>
            <a:off x="1395767" y="2052213"/>
            <a:ext cx="3933923" cy="4196185"/>
          </a:xfrm>
          <a:prstGeom prst="rect">
            <a:avLst/>
          </a:prstGeom>
          <a:noFill/>
          <a:ln>
            <a:noFill/>
          </a:ln>
          <a:effectLst>
            <a:outerShdw blurRad="50800" rotWithShape="0" algn="t" dir="5400000" dist="38100">
              <a:srgbClr val="000000">
                <a:alpha val="42745"/>
              </a:srgbClr>
            </a:outerShdw>
          </a:effectLst>
        </p:spPr>
      </p:pic>
      <p:sp>
        <p:nvSpPr>
          <p:cNvPr id="521" name="Google Shape;521;p26"/>
          <p:cNvSpPr txBox="1"/>
          <p:nvPr>
            <p:ph idx="1" type="body"/>
          </p:nvPr>
        </p:nvSpPr>
        <p:spPr>
          <a:xfrm>
            <a:off x="6575729" y="2052214"/>
            <a:ext cx="4415293" cy="419618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Graph showing the percentage of the sample from Study 1 with and without reported talents, or ''Special Isolated Skills'' , in any domain and in each of the six ADI-R SIS domains separately.</a:t>
            </a:r>
            <a:endParaRPr/>
          </a:p>
          <a:p>
            <a:pPr indent="-241300" lvl="0" marL="342900" rtl="0" algn="l">
              <a:spcBef>
                <a:spcPts val="1000"/>
              </a:spcBef>
              <a:spcAft>
                <a:spcPts val="0"/>
              </a:spcAft>
              <a:buClr>
                <a:srgbClr val="F7F7F7"/>
              </a:buClr>
              <a:buSzPts val="16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5" name="Shape 525"/>
        <p:cNvGrpSpPr/>
        <p:nvPr/>
      </p:nvGrpSpPr>
      <p:grpSpPr>
        <a:xfrm>
          <a:off x="0" y="0"/>
          <a:ext cx="0" cy="0"/>
          <a:chOff x="0" y="0"/>
          <a:chExt cx="0" cy="0"/>
        </a:xfrm>
      </p:grpSpPr>
      <p:sp>
        <p:nvSpPr>
          <p:cNvPr id="526" name="Google Shape;526;p27"/>
          <p:cNvSpPr txBox="1"/>
          <p:nvPr>
            <p:ph type="title"/>
          </p:nvPr>
        </p:nvSpPr>
        <p:spPr>
          <a:xfrm>
            <a:off x="648930" y="629266"/>
            <a:ext cx="9252154" cy="12239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GRAPHICAL ANALYSIS</a:t>
            </a:r>
            <a:endParaRPr/>
          </a:p>
        </p:txBody>
      </p:sp>
      <p:pic>
        <p:nvPicPr>
          <p:cNvPr descr="Chart, bar chart&#10;&#10;Description automatically generated" id="527" name="Google Shape;527;p27"/>
          <p:cNvPicPr preferRelativeResize="0"/>
          <p:nvPr/>
        </p:nvPicPr>
        <p:blipFill rotWithShape="1">
          <a:blip r:embed="rId3">
            <a:alphaModFix/>
          </a:blip>
          <a:srcRect b="0" l="0" r="0" t="0"/>
          <a:stretch/>
        </p:blipFill>
        <p:spPr>
          <a:xfrm>
            <a:off x="636915" y="2487560"/>
            <a:ext cx="5451627" cy="3325491"/>
          </a:xfrm>
          <a:prstGeom prst="rect">
            <a:avLst/>
          </a:prstGeom>
          <a:noFill/>
          <a:ln>
            <a:noFill/>
          </a:ln>
          <a:effectLst>
            <a:outerShdw blurRad="50800" rotWithShape="0" algn="t" dir="5400000" dist="38100">
              <a:srgbClr val="000000">
                <a:alpha val="42745"/>
              </a:srgbClr>
            </a:outerShdw>
          </a:effectLst>
        </p:spPr>
      </p:pic>
      <p:sp>
        <p:nvSpPr>
          <p:cNvPr id="528" name="Google Shape;528;p27"/>
          <p:cNvSpPr txBox="1"/>
          <p:nvPr>
            <p:ph idx="1" type="body"/>
          </p:nvPr>
        </p:nvSpPr>
        <p:spPr>
          <a:xfrm>
            <a:off x="6575729" y="2052214"/>
            <a:ext cx="4415293" cy="419618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Impact of mainstream classroom setting on attention of children with autism spectrum disorder: an eye-tracking study | SpringerLink.</a:t>
            </a:r>
            <a:endParaRPr/>
          </a:p>
          <a:p>
            <a:pPr indent="-241300" lvl="0" marL="342900" rtl="0" algn="l">
              <a:spcBef>
                <a:spcPts val="0"/>
              </a:spcBef>
              <a:spcAft>
                <a:spcPts val="0"/>
              </a:spcAft>
              <a:buClr>
                <a:srgbClr val="F7F7F7"/>
              </a:buClr>
              <a:buSzPts val="1600"/>
              <a:buNone/>
            </a:pPr>
            <a:r>
              <a:t/>
            </a:r>
            <a:endParaRPr/>
          </a:p>
          <a:p>
            <a:pPr indent="-241300" lvl="0" marL="342900" rtl="0" algn="l">
              <a:spcBef>
                <a:spcPts val="1000"/>
              </a:spcBef>
              <a:spcAft>
                <a:spcPts val="0"/>
              </a:spcAft>
              <a:buClr>
                <a:srgbClr val="F7F7F7"/>
              </a:buClr>
              <a:buSzPts val="16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2" name="Shape 532"/>
        <p:cNvGrpSpPr/>
        <p:nvPr/>
      </p:nvGrpSpPr>
      <p:grpSpPr>
        <a:xfrm>
          <a:off x="0" y="0"/>
          <a:ext cx="0" cy="0"/>
          <a:chOff x="0" y="0"/>
          <a:chExt cx="0" cy="0"/>
        </a:xfrm>
      </p:grpSpPr>
      <p:sp>
        <p:nvSpPr>
          <p:cNvPr id="533" name="Google Shape;533;p28"/>
          <p:cNvSpPr/>
          <p:nvPr/>
        </p:nvSpPr>
        <p:spPr>
          <a:xfrm>
            <a:off x="-1" y="0"/>
            <a:ext cx="465331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2"/>
              </a:solidFill>
              <a:latin typeface="Century Gothic"/>
              <a:ea typeface="Century Gothic"/>
              <a:cs typeface="Century Gothic"/>
              <a:sym typeface="Century Gothic"/>
            </a:endParaRPr>
          </a:p>
        </p:txBody>
      </p:sp>
      <p:sp>
        <p:nvSpPr>
          <p:cNvPr id="534" name="Google Shape;534;p28"/>
          <p:cNvSpPr txBox="1"/>
          <p:nvPr>
            <p:ph type="title"/>
          </p:nvPr>
        </p:nvSpPr>
        <p:spPr>
          <a:xfrm>
            <a:off x="646111" y="690879"/>
            <a:ext cx="3682049" cy="5557519"/>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FFFFFF"/>
              </a:buClr>
              <a:buSzPts val="2400"/>
              <a:buFont typeface="Century Gothic"/>
              <a:buNone/>
            </a:pPr>
            <a:r>
              <a:rPr lang="en-US" sz="2400">
                <a:solidFill>
                  <a:srgbClr val="FFFFFF"/>
                </a:solidFill>
              </a:rPr>
              <a:t>C</a:t>
            </a:r>
            <a:br>
              <a:rPr lang="en-US" sz="2400"/>
            </a:br>
            <a:r>
              <a:rPr lang="en-US" sz="2400">
                <a:solidFill>
                  <a:srgbClr val="FFFFFF"/>
                </a:solidFill>
              </a:rPr>
              <a:t>O</a:t>
            </a:r>
            <a:br>
              <a:rPr lang="en-US" sz="2400"/>
            </a:br>
            <a:r>
              <a:rPr lang="en-US" sz="2400">
                <a:solidFill>
                  <a:srgbClr val="FFFFFF"/>
                </a:solidFill>
              </a:rPr>
              <a:t>N</a:t>
            </a:r>
            <a:br>
              <a:rPr lang="en-US" sz="2400"/>
            </a:br>
            <a:r>
              <a:rPr lang="en-US" sz="2400">
                <a:solidFill>
                  <a:srgbClr val="FFFFFF"/>
                </a:solidFill>
              </a:rPr>
              <a:t>C</a:t>
            </a:r>
            <a:br>
              <a:rPr lang="en-US" sz="2400"/>
            </a:br>
            <a:r>
              <a:rPr lang="en-US" sz="2400">
                <a:solidFill>
                  <a:srgbClr val="FFFFFF"/>
                </a:solidFill>
              </a:rPr>
              <a:t>L</a:t>
            </a:r>
            <a:br>
              <a:rPr lang="en-US" sz="2400"/>
            </a:br>
            <a:r>
              <a:rPr lang="en-US" sz="2400">
                <a:solidFill>
                  <a:srgbClr val="FFFFFF"/>
                </a:solidFill>
              </a:rPr>
              <a:t>U</a:t>
            </a:r>
            <a:br>
              <a:rPr lang="en-US" sz="2400"/>
            </a:br>
            <a:r>
              <a:rPr lang="en-US" sz="2400">
                <a:solidFill>
                  <a:srgbClr val="FFFFFF"/>
                </a:solidFill>
              </a:rPr>
              <a:t>S</a:t>
            </a:r>
            <a:br>
              <a:rPr lang="en-US" sz="2400"/>
            </a:br>
            <a:r>
              <a:rPr lang="en-US" sz="2400">
                <a:solidFill>
                  <a:srgbClr val="FFFFFF"/>
                </a:solidFill>
              </a:rPr>
              <a:t>I</a:t>
            </a:r>
            <a:br>
              <a:rPr lang="en-US" sz="2400"/>
            </a:br>
            <a:r>
              <a:rPr lang="en-US" sz="2400">
                <a:solidFill>
                  <a:srgbClr val="FFFFFF"/>
                </a:solidFill>
              </a:rPr>
              <a:t>O</a:t>
            </a:r>
            <a:br>
              <a:rPr lang="en-US" sz="2400"/>
            </a:br>
            <a:r>
              <a:rPr lang="en-US" sz="2400">
                <a:solidFill>
                  <a:srgbClr val="FFFFFF"/>
                </a:solidFill>
              </a:rPr>
              <a:t>N</a:t>
            </a:r>
            <a:endParaRPr sz="2400">
              <a:solidFill>
                <a:srgbClr val="FFFFFF"/>
              </a:solidFill>
            </a:endParaRPr>
          </a:p>
        </p:txBody>
      </p:sp>
      <p:sp>
        <p:nvSpPr>
          <p:cNvPr id="535" name="Google Shape;535;p28"/>
          <p:cNvSpPr txBox="1"/>
          <p:nvPr>
            <p:ph idx="1" type="body"/>
          </p:nvPr>
        </p:nvSpPr>
        <p:spPr>
          <a:xfrm>
            <a:off x="5101999" y="690880"/>
            <a:ext cx="4947854" cy="5557519"/>
          </a:xfrm>
          <a:prstGeom prst="rect">
            <a:avLst/>
          </a:prstGeom>
          <a:noFill/>
          <a:ln>
            <a:noFill/>
          </a:ln>
        </p:spPr>
        <p:txBody>
          <a:bodyPr anchorCtr="0" anchor="ctr" bIns="45700" lIns="91425" spcFirstLastPara="1" rIns="91425" wrap="square" tIns="45700">
            <a:normAutofit/>
          </a:bodyPr>
          <a:lstStyle/>
          <a:p>
            <a:pPr indent="-342900" lvl="0" marL="342900" rtl="0" algn="l">
              <a:spcBef>
                <a:spcPts val="0"/>
              </a:spcBef>
              <a:spcAft>
                <a:spcPts val="0"/>
              </a:spcAft>
              <a:buSzPts val="1600"/>
              <a:buChar char="►"/>
            </a:pPr>
            <a:r>
              <a:rPr lang="en-US"/>
              <a:t>As by the research we undergone and by the resources we can come to the point that autistic kid faces lots of problems with their sensory nerves and their gross motor and fine motor and so on</a:t>
            </a:r>
            <a:r>
              <a:rPr b="1" lang="en-US"/>
              <a:t>. </a:t>
            </a:r>
            <a:r>
              <a:rPr lang="en-US"/>
              <a:t>We are working on a project with an idea of making the kid to learn by making the kid to hold an artificial hand (robotic arm) which has the ability to track the pattern of the kid’s hand movement and to guide the kid to move their hand in the right way to complete the pattern by interactive methods. We hope our idea would bring the changes in the kid positively.</a:t>
            </a:r>
            <a:endParaRPr/>
          </a:p>
        </p:txBody>
      </p:sp>
      <p:sp>
        <p:nvSpPr>
          <p:cNvPr id="536" name="Google Shape;536;p28"/>
          <p:cNvSpPr txBox="1"/>
          <p:nvPr/>
        </p:nvSpPr>
        <p:spPr>
          <a:xfrm>
            <a:off x="4724400" y="3200400"/>
            <a:ext cx="27432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537" name="Google Shape;537;p28"/>
          <p:cNvSpPr txBox="1"/>
          <p:nvPr/>
        </p:nvSpPr>
        <p:spPr>
          <a:xfrm>
            <a:off x="10534650" y="323850"/>
            <a:ext cx="27432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2021-08-26T10:54:20Z</dcterms:created>
  <dc:creator>-</dc:creator>
</cp:coreProperties>
</file>